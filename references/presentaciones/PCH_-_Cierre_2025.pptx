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y="5143500" cx="9144000"/>
  <p:notesSz cx="6858000" cy="9144000"/>
  <p:embeddedFontLst>
    <p:embeddedFont>
      <p:font typeface="Montserrat"/>
      <p:regular r:id="rId29"/>
      <p:bold r:id="rId30"/>
      <p:italic r:id="rId31"/>
      <p:boldItalic r:id="rId32"/>
    </p:embeddedFont>
    <p:embeddedFont>
      <p:font typeface="Montserrat Medium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Montserrat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Montserrat-italic.fntdata"/><Relationship Id="rId30" Type="http://schemas.openxmlformats.org/officeDocument/2006/relationships/font" Target="fonts/Montserrat-bold.fntdata"/><Relationship Id="rId11" Type="http://schemas.openxmlformats.org/officeDocument/2006/relationships/slide" Target="slides/slide7.xml"/><Relationship Id="rId33" Type="http://schemas.openxmlformats.org/officeDocument/2006/relationships/font" Target="fonts/MontserratMedium-regular.fntdata"/><Relationship Id="rId10" Type="http://schemas.openxmlformats.org/officeDocument/2006/relationships/slide" Target="slides/slide6.xml"/><Relationship Id="rId32" Type="http://schemas.openxmlformats.org/officeDocument/2006/relationships/font" Target="fonts/Montserrat-boldItalic.fntdata"/><Relationship Id="rId13" Type="http://schemas.openxmlformats.org/officeDocument/2006/relationships/slide" Target="slides/slide9.xml"/><Relationship Id="rId35" Type="http://schemas.openxmlformats.org/officeDocument/2006/relationships/font" Target="fonts/MontserratMedium-italic.fntdata"/><Relationship Id="rId12" Type="http://schemas.openxmlformats.org/officeDocument/2006/relationships/slide" Target="slides/slide8.xml"/><Relationship Id="rId34" Type="http://schemas.openxmlformats.org/officeDocument/2006/relationships/font" Target="fonts/MontserratMedium-bold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36" Type="http://schemas.openxmlformats.org/officeDocument/2006/relationships/font" Target="fonts/MontserratMedium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af97074c4e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af97074c4e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f97074c4e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f97074c4e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f97074c4e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f97074c4e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f97074c4e_1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f97074c4e_1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f97074c4e_1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f97074c4e_1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f97074c4e_2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af97074c4e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f97074c4e_1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af97074c4e_1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f97074c4e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af97074c4e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af97074c4e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af97074c4e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af97074c4e_2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af97074c4e_2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af97074c4e_2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af97074c4e_2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af97074c4e_2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af97074c4e_2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af97074c4e_2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af97074c4e_2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af97074c4e_2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af97074c4e_2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af97074c4e_2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af97074c4e_2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af97074c4e_2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af97074c4e_2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af97074c4e_2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af97074c4e_2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af97074c4e_2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af97074c4e_2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af97074c4e_2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af97074c4e_2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f97074c4e_2_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af97074c4e_2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af97074c4e_2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af97074c4e_2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af97074c4e_2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af97074c4e_2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af97074c4e_2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af97074c4e_2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3.png"/><Relationship Id="rId6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11" Type="http://schemas.openxmlformats.org/officeDocument/2006/relationships/image" Target="../media/image15.png"/><Relationship Id="rId10" Type="http://schemas.openxmlformats.org/officeDocument/2006/relationships/image" Target="../media/image18.png"/><Relationship Id="rId9" Type="http://schemas.openxmlformats.org/officeDocument/2006/relationships/image" Target="../media/image14.png"/><Relationship Id="rId5" Type="http://schemas.openxmlformats.org/officeDocument/2006/relationships/image" Target="../media/image3.png"/><Relationship Id="rId6" Type="http://schemas.openxmlformats.org/officeDocument/2006/relationships/image" Target="../media/image10.png"/><Relationship Id="rId7" Type="http://schemas.openxmlformats.org/officeDocument/2006/relationships/image" Target="../media/image12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4.png"/><Relationship Id="rId6" Type="http://schemas.openxmlformats.org/officeDocument/2006/relationships/image" Target="../media/image17.png"/><Relationship Id="rId7" Type="http://schemas.openxmlformats.org/officeDocument/2006/relationships/image" Target="../media/image22.png"/><Relationship Id="rId8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29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32.png"/><Relationship Id="rId5" Type="http://schemas.openxmlformats.org/officeDocument/2006/relationships/image" Target="../media/image8.png"/><Relationship Id="rId6" Type="http://schemas.openxmlformats.org/officeDocument/2006/relationships/image" Target="../media/image33.png"/><Relationship Id="rId7" Type="http://schemas.openxmlformats.org/officeDocument/2006/relationships/image" Target="../media/image30.png"/><Relationship Id="rId8" Type="http://schemas.openxmlformats.org/officeDocument/2006/relationships/image" Target="../media/image2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1.png"/><Relationship Id="rId6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5.png"/><Relationship Id="rId6" Type="http://schemas.openxmlformats.org/officeDocument/2006/relationships/image" Target="../media/image23.png"/><Relationship Id="rId7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3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4050" y="-11"/>
            <a:ext cx="7019950" cy="5282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9900" y="3108350"/>
            <a:ext cx="2502176" cy="100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52650" y="4204025"/>
            <a:ext cx="755000" cy="25815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357525" y="4063700"/>
            <a:ext cx="4722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Presentación anual </a:t>
            </a:r>
            <a:r>
              <a:rPr lang="es" sz="23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2025</a:t>
            </a:r>
            <a:endParaRPr sz="23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67892" y="4525241"/>
            <a:ext cx="4722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Diciembre 2025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4"/>
          <p:cNvPicPr preferRelativeResize="0"/>
          <p:nvPr/>
        </p:nvPicPr>
        <p:blipFill>
          <a:blip r:embed="rId3">
            <a:alphaModFix amt="52000"/>
          </a:blip>
          <a:stretch>
            <a:fillRect/>
          </a:stretch>
        </p:blipFill>
        <p:spPr>
          <a:xfrm>
            <a:off x="2124050" y="-138611"/>
            <a:ext cx="7019950" cy="5282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300" y="354575"/>
            <a:ext cx="3419375" cy="43107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372427" y="217916"/>
            <a:ext cx="5082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¿Quiénes sómos?</a:t>
            </a:r>
            <a:endParaRPr sz="3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6634005" y="2635177"/>
            <a:ext cx="47226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01</a:t>
            </a:r>
            <a:endParaRPr sz="17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425" y="974450"/>
            <a:ext cx="1446349" cy="44722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289076" y="194275"/>
            <a:ext cx="4698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Nuestros valores</a:t>
            </a:r>
            <a:endParaRPr sz="40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antes</a:t>
            </a:r>
            <a:endParaRPr sz="4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072751" y="3216299"/>
            <a:ext cx="11038776" cy="12397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456975" y="3166537"/>
            <a:ext cx="223500" cy="223500"/>
          </a:xfrm>
          <a:prstGeom prst="ellipse">
            <a:avLst/>
          </a:prstGeom>
          <a:solidFill>
            <a:srgbClr val="CEDFF4"/>
          </a:solidFill>
          <a:ln>
            <a:noFill/>
          </a:ln>
        </p:spPr>
        <p:txBody>
          <a:bodyPr anchorCtr="0" anchor="ctr" bIns="61050" lIns="61050" spcFirstLastPara="1" rIns="61050" wrap="square" tIns="61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35"/>
          </a:p>
        </p:txBody>
      </p:sp>
      <p:sp>
        <p:nvSpPr>
          <p:cNvPr id="77" name="Google Shape;77;p15"/>
          <p:cNvSpPr/>
          <p:nvPr/>
        </p:nvSpPr>
        <p:spPr>
          <a:xfrm>
            <a:off x="497413" y="3206872"/>
            <a:ext cx="142500" cy="142800"/>
          </a:xfrm>
          <a:prstGeom prst="ellipse">
            <a:avLst/>
          </a:prstGeom>
          <a:solidFill>
            <a:srgbClr val="011E3C"/>
          </a:solidFill>
          <a:ln>
            <a:noFill/>
          </a:ln>
        </p:spPr>
        <p:txBody>
          <a:bodyPr anchorCtr="0" anchor="ctr" bIns="61050" lIns="61050" spcFirstLastPara="1" rIns="61050" wrap="square" tIns="61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35">
              <a:highlight>
                <a:srgbClr val="011E3C"/>
              </a:highlight>
            </a:endParaRPr>
          </a:p>
        </p:txBody>
      </p:sp>
      <p:grpSp>
        <p:nvGrpSpPr>
          <p:cNvPr id="78" name="Google Shape;78;p15"/>
          <p:cNvGrpSpPr/>
          <p:nvPr/>
        </p:nvGrpSpPr>
        <p:grpSpPr>
          <a:xfrm>
            <a:off x="1707475" y="3166537"/>
            <a:ext cx="223500" cy="223500"/>
            <a:chOff x="1312025" y="3166550"/>
            <a:chExt cx="223500" cy="223500"/>
          </a:xfrm>
        </p:grpSpPr>
        <p:sp>
          <p:nvSpPr>
            <p:cNvPr id="79" name="Google Shape;79;p15"/>
            <p:cNvSpPr/>
            <p:nvPr/>
          </p:nvSpPr>
          <p:spPr>
            <a:xfrm>
              <a:off x="1312025" y="3166550"/>
              <a:ext cx="223500" cy="223500"/>
            </a:xfrm>
            <a:prstGeom prst="ellipse">
              <a:avLst/>
            </a:prstGeom>
            <a:solidFill>
              <a:srgbClr val="CEDFF4"/>
            </a:solidFill>
            <a:ln>
              <a:noFill/>
            </a:ln>
          </p:spPr>
          <p:txBody>
            <a:bodyPr anchorCtr="0" anchor="ctr" bIns="61050" lIns="61050" spcFirstLastPara="1" rIns="61050" wrap="square" tIns="61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35"/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1352463" y="3206884"/>
              <a:ext cx="142500" cy="142800"/>
            </a:xfrm>
            <a:prstGeom prst="ellipse">
              <a:avLst/>
            </a:prstGeom>
            <a:solidFill>
              <a:srgbClr val="011E3C"/>
            </a:solidFill>
            <a:ln>
              <a:noFill/>
            </a:ln>
          </p:spPr>
          <p:txBody>
            <a:bodyPr anchorCtr="0" anchor="ctr" bIns="61050" lIns="61050" spcFirstLastPara="1" rIns="61050" wrap="square" tIns="61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35">
                <a:highlight>
                  <a:srgbClr val="011E3C"/>
                </a:highlight>
              </a:endParaRPr>
            </a:p>
          </p:txBody>
        </p:sp>
      </p:grpSp>
      <p:grpSp>
        <p:nvGrpSpPr>
          <p:cNvPr id="81" name="Google Shape;81;p15"/>
          <p:cNvGrpSpPr/>
          <p:nvPr/>
        </p:nvGrpSpPr>
        <p:grpSpPr>
          <a:xfrm>
            <a:off x="2957975" y="3166525"/>
            <a:ext cx="223500" cy="223500"/>
            <a:chOff x="1312025" y="3166550"/>
            <a:chExt cx="223500" cy="223500"/>
          </a:xfrm>
        </p:grpSpPr>
        <p:sp>
          <p:nvSpPr>
            <p:cNvPr id="82" name="Google Shape;82;p15"/>
            <p:cNvSpPr/>
            <p:nvPr/>
          </p:nvSpPr>
          <p:spPr>
            <a:xfrm>
              <a:off x="1312025" y="3166550"/>
              <a:ext cx="223500" cy="223500"/>
            </a:xfrm>
            <a:prstGeom prst="ellipse">
              <a:avLst/>
            </a:prstGeom>
            <a:solidFill>
              <a:srgbClr val="CEDFF4"/>
            </a:solidFill>
            <a:ln>
              <a:noFill/>
            </a:ln>
          </p:spPr>
          <p:txBody>
            <a:bodyPr anchorCtr="0" anchor="ctr" bIns="61050" lIns="61050" spcFirstLastPara="1" rIns="61050" wrap="square" tIns="61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35"/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1352463" y="3206884"/>
              <a:ext cx="142500" cy="142800"/>
            </a:xfrm>
            <a:prstGeom prst="ellipse">
              <a:avLst/>
            </a:prstGeom>
            <a:solidFill>
              <a:srgbClr val="011E3C"/>
            </a:solidFill>
            <a:ln>
              <a:noFill/>
            </a:ln>
          </p:spPr>
          <p:txBody>
            <a:bodyPr anchorCtr="0" anchor="ctr" bIns="61050" lIns="61050" spcFirstLastPara="1" rIns="61050" wrap="square" tIns="61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35">
                <a:highlight>
                  <a:srgbClr val="011E3C"/>
                </a:highlight>
              </a:endParaRPr>
            </a:p>
          </p:txBody>
        </p:sp>
      </p:grpSp>
      <p:grpSp>
        <p:nvGrpSpPr>
          <p:cNvPr id="84" name="Google Shape;84;p15"/>
          <p:cNvGrpSpPr/>
          <p:nvPr/>
        </p:nvGrpSpPr>
        <p:grpSpPr>
          <a:xfrm>
            <a:off x="4208475" y="3166537"/>
            <a:ext cx="223500" cy="223500"/>
            <a:chOff x="1312025" y="3166550"/>
            <a:chExt cx="223500" cy="223500"/>
          </a:xfrm>
        </p:grpSpPr>
        <p:sp>
          <p:nvSpPr>
            <p:cNvPr id="85" name="Google Shape;85;p15"/>
            <p:cNvSpPr/>
            <p:nvPr/>
          </p:nvSpPr>
          <p:spPr>
            <a:xfrm>
              <a:off x="1312025" y="3166550"/>
              <a:ext cx="223500" cy="223500"/>
            </a:xfrm>
            <a:prstGeom prst="ellipse">
              <a:avLst/>
            </a:prstGeom>
            <a:solidFill>
              <a:srgbClr val="CEDFF4"/>
            </a:solidFill>
            <a:ln>
              <a:noFill/>
            </a:ln>
          </p:spPr>
          <p:txBody>
            <a:bodyPr anchorCtr="0" anchor="ctr" bIns="61050" lIns="61050" spcFirstLastPara="1" rIns="61050" wrap="square" tIns="61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35"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1352463" y="3206884"/>
              <a:ext cx="142500" cy="142800"/>
            </a:xfrm>
            <a:prstGeom prst="ellipse">
              <a:avLst/>
            </a:prstGeom>
            <a:solidFill>
              <a:srgbClr val="011E3C"/>
            </a:solidFill>
            <a:ln>
              <a:noFill/>
            </a:ln>
          </p:spPr>
          <p:txBody>
            <a:bodyPr anchorCtr="0" anchor="ctr" bIns="61050" lIns="61050" spcFirstLastPara="1" rIns="61050" wrap="square" tIns="61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35">
                <a:highlight>
                  <a:srgbClr val="011E3C"/>
                </a:highlight>
              </a:endParaRPr>
            </a:p>
          </p:txBody>
        </p:sp>
      </p:grpSp>
      <p:grpSp>
        <p:nvGrpSpPr>
          <p:cNvPr id="87" name="Google Shape;87;p15"/>
          <p:cNvGrpSpPr/>
          <p:nvPr/>
        </p:nvGrpSpPr>
        <p:grpSpPr>
          <a:xfrm>
            <a:off x="5458975" y="3166525"/>
            <a:ext cx="223500" cy="223500"/>
            <a:chOff x="1312025" y="3166550"/>
            <a:chExt cx="223500" cy="223500"/>
          </a:xfrm>
        </p:grpSpPr>
        <p:sp>
          <p:nvSpPr>
            <p:cNvPr id="88" name="Google Shape;88;p15"/>
            <p:cNvSpPr/>
            <p:nvPr/>
          </p:nvSpPr>
          <p:spPr>
            <a:xfrm>
              <a:off x="1312025" y="3166550"/>
              <a:ext cx="223500" cy="223500"/>
            </a:xfrm>
            <a:prstGeom prst="ellipse">
              <a:avLst/>
            </a:prstGeom>
            <a:solidFill>
              <a:srgbClr val="CEDFF4"/>
            </a:solidFill>
            <a:ln>
              <a:noFill/>
            </a:ln>
          </p:spPr>
          <p:txBody>
            <a:bodyPr anchorCtr="0" anchor="ctr" bIns="61050" lIns="61050" spcFirstLastPara="1" rIns="61050" wrap="square" tIns="61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35"/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1352463" y="3206884"/>
              <a:ext cx="142500" cy="142800"/>
            </a:xfrm>
            <a:prstGeom prst="ellipse">
              <a:avLst/>
            </a:prstGeom>
            <a:solidFill>
              <a:srgbClr val="011E3C"/>
            </a:solidFill>
            <a:ln>
              <a:noFill/>
            </a:ln>
          </p:spPr>
          <p:txBody>
            <a:bodyPr anchorCtr="0" anchor="ctr" bIns="61050" lIns="61050" spcFirstLastPara="1" rIns="61050" wrap="square" tIns="61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35">
                <a:highlight>
                  <a:srgbClr val="011E3C"/>
                </a:highlight>
              </a:endParaRPr>
            </a:p>
          </p:txBody>
        </p:sp>
      </p:grpSp>
      <p:grpSp>
        <p:nvGrpSpPr>
          <p:cNvPr id="90" name="Google Shape;90;p15"/>
          <p:cNvGrpSpPr/>
          <p:nvPr/>
        </p:nvGrpSpPr>
        <p:grpSpPr>
          <a:xfrm>
            <a:off x="6709475" y="3166537"/>
            <a:ext cx="223500" cy="223500"/>
            <a:chOff x="1312025" y="3166550"/>
            <a:chExt cx="223500" cy="223500"/>
          </a:xfrm>
        </p:grpSpPr>
        <p:sp>
          <p:nvSpPr>
            <p:cNvPr id="91" name="Google Shape;91;p15"/>
            <p:cNvSpPr/>
            <p:nvPr/>
          </p:nvSpPr>
          <p:spPr>
            <a:xfrm>
              <a:off x="1312025" y="3166550"/>
              <a:ext cx="223500" cy="223500"/>
            </a:xfrm>
            <a:prstGeom prst="ellipse">
              <a:avLst/>
            </a:prstGeom>
            <a:solidFill>
              <a:srgbClr val="CEDFF4"/>
            </a:solidFill>
            <a:ln>
              <a:noFill/>
            </a:ln>
          </p:spPr>
          <p:txBody>
            <a:bodyPr anchorCtr="0" anchor="ctr" bIns="61050" lIns="61050" spcFirstLastPara="1" rIns="61050" wrap="square" tIns="61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35"/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1352463" y="3206884"/>
              <a:ext cx="142500" cy="142800"/>
            </a:xfrm>
            <a:prstGeom prst="ellipse">
              <a:avLst/>
            </a:prstGeom>
            <a:solidFill>
              <a:srgbClr val="011E3C"/>
            </a:solidFill>
            <a:ln>
              <a:noFill/>
            </a:ln>
          </p:spPr>
          <p:txBody>
            <a:bodyPr anchorCtr="0" anchor="ctr" bIns="61050" lIns="61050" spcFirstLastPara="1" rIns="61050" wrap="square" tIns="61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35">
                <a:highlight>
                  <a:srgbClr val="011E3C"/>
                </a:highlight>
              </a:endParaRPr>
            </a:p>
          </p:txBody>
        </p:sp>
      </p:grpSp>
      <p:grpSp>
        <p:nvGrpSpPr>
          <p:cNvPr id="93" name="Google Shape;93;p15"/>
          <p:cNvGrpSpPr/>
          <p:nvPr/>
        </p:nvGrpSpPr>
        <p:grpSpPr>
          <a:xfrm>
            <a:off x="7959975" y="3166537"/>
            <a:ext cx="223500" cy="223500"/>
            <a:chOff x="1312025" y="3166550"/>
            <a:chExt cx="223500" cy="223500"/>
          </a:xfrm>
        </p:grpSpPr>
        <p:sp>
          <p:nvSpPr>
            <p:cNvPr id="94" name="Google Shape;94;p15"/>
            <p:cNvSpPr/>
            <p:nvPr/>
          </p:nvSpPr>
          <p:spPr>
            <a:xfrm>
              <a:off x="1312025" y="3166550"/>
              <a:ext cx="223500" cy="223500"/>
            </a:xfrm>
            <a:prstGeom prst="ellipse">
              <a:avLst/>
            </a:prstGeom>
            <a:solidFill>
              <a:srgbClr val="CEDFF4"/>
            </a:solidFill>
            <a:ln>
              <a:noFill/>
            </a:ln>
          </p:spPr>
          <p:txBody>
            <a:bodyPr anchorCtr="0" anchor="ctr" bIns="61050" lIns="61050" spcFirstLastPara="1" rIns="61050" wrap="square" tIns="61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35"/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1352463" y="3206884"/>
              <a:ext cx="142500" cy="142800"/>
            </a:xfrm>
            <a:prstGeom prst="ellipse">
              <a:avLst/>
            </a:prstGeom>
            <a:solidFill>
              <a:srgbClr val="011E3C"/>
            </a:solidFill>
            <a:ln>
              <a:noFill/>
            </a:ln>
          </p:spPr>
          <p:txBody>
            <a:bodyPr anchorCtr="0" anchor="ctr" bIns="61050" lIns="61050" spcFirstLastPara="1" rIns="61050" wrap="square" tIns="61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35">
                <a:highlight>
                  <a:srgbClr val="011E3C"/>
                </a:highlight>
              </a:endParaRPr>
            </a:p>
          </p:txBody>
        </p:sp>
      </p:grpSp>
      <p:cxnSp>
        <p:nvCxnSpPr>
          <p:cNvPr id="96" name="Google Shape;96;p15"/>
          <p:cNvCxnSpPr/>
          <p:nvPr/>
        </p:nvCxnSpPr>
        <p:spPr>
          <a:xfrm flipH="1">
            <a:off x="567275" y="3442300"/>
            <a:ext cx="900" cy="196500"/>
          </a:xfrm>
          <a:prstGeom prst="straightConnector1">
            <a:avLst/>
          </a:prstGeom>
          <a:noFill/>
          <a:ln cap="flat" cmpd="sng" w="9525">
            <a:solidFill>
              <a:srgbClr val="CEDF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" name="Google Shape;97;p15"/>
          <p:cNvCxnSpPr/>
          <p:nvPr/>
        </p:nvCxnSpPr>
        <p:spPr>
          <a:xfrm flipH="1">
            <a:off x="1818775" y="2900052"/>
            <a:ext cx="900" cy="196500"/>
          </a:xfrm>
          <a:prstGeom prst="straightConnector1">
            <a:avLst/>
          </a:prstGeom>
          <a:noFill/>
          <a:ln cap="flat" cmpd="sng" w="9525">
            <a:solidFill>
              <a:srgbClr val="CEDF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" name="Google Shape;98;p15"/>
          <p:cNvCxnSpPr/>
          <p:nvPr/>
        </p:nvCxnSpPr>
        <p:spPr>
          <a:xfrm flipH="1">
            <a:off x="3069275" y="3442300"/>
            <a:ext cx="900" cy="196500"/>
          </a:xfrm>
          <a:prstGeom prst="straightConnector1">
            <a:avLst/>
          </a:prstGeom>
          <a:noFill/>
          <a:ln cap="flat" cmpd="sng" w="9525">
            <a:solidFill>
              <a:srgbClr val="CEDF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" name="Google Shape;99;p15"/>
          <p:cNvCxnSpPr/>
          <p:nvPr/>
        </p:nvCxnSpPr>
        <p:spPr>
          <a:xfrm flipH="1">
            <a:off x="5571275" y="3442300"/>
            <a:ext cx="900" cy="196500"/>
          </a:xfrm>
          <a:prstGeom prst="straightConnector1">
            <a:avLst/>
          </a:prstGeom>
          <a:noFill/>
          <a:ln cap="flat" cmpd="sng" w="9525">
            <a:solidFill>
              <a:srgbClr val="CEDF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" name="Google Shape;100;p15"/>
          <p:cNvCxnSpPr/>
          <p:nvPr/>
        </p:nvCxnSpPr>
        <p:spPr>
          <a:xfrm flipH="1">
            <a:off x="8073275" y="3442300"/>
            <a:ext cx="900" cy="196500"/>
          </a:xfrm>
          <a:prstGeom prst="straightConnector1">
            <a:avLst/>
          </a:prstGeom>
          <a:noFill/>
          <a:ln cap="flat" cmpd="sng" w="9525">
            <a:solidFill>
              <a:srgbClr val="CEDFF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1" name="Google Shape;101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2425" y="3691075"/>
            <a:ext cx="1481477" cy="323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" name="Google Shape;102;p15"/>
          <p:cNvCxnSpPr/>
          <p:nvPr/>
        </p:nvCxnSpPr>
        <p:spPr>
          <a:xfrm flipH="1">
            <a:off x="4319775" y="2900056"/>
            <a:ext cx="900" cy="196500"/>
          </a:xfrm>
          <a:prstGeom prst="straightConnector1">
            <a:avLst/>
          </a:prstGeom>
          <a:noFill/>
          <a:ln cap="flat" cmpd="sng" w="9525">
            <a:solidFill>
              <a:srgbClr val="CEDF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" name="Google Shape;103;p15"/>
          <p:cNvCxnSpPr/>
          <p:nvPr/>
        </p:nvCxnSpPr>
        <p:spPr>
          <a:xfrm flipH="1">
            <a:off x="6820775" y="2900056"/>
            <a:ext cx="900" cy="196500"/>
          </a:xfrm>
          <a:prstGeom prst="straightConnector1">
            <a:avLst/>
          </a:prstGeom>
          <a:noFill/>
          <a:ln cap="flat" cmpd="sng" w="9525">
            <a:solidFill>
              <a:srgbClr val="CEDFF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" name="Google Shape;104;p15"/>
          <p:cNvSpPr txBox="1"/>
          <p:nvPr/>
        </p:nvSpPr>
        <p:spPr>
          <a:xfrm>
            <a:off x="372433" y="3622086"/>
            <a:ext cx="175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Empatía</a:t>
            </a:r>
            <a:r>
              <a:rPr lang="es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con nuestros clientes</a:t>
            </a:r>
            <a:endParaRPr sz="9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05" name="Google Shape;105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70400" y="3691075"/>
            <a:ext cx="1053425" cy="19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2859512" y="3619788"/>
            <a:ext cx="1752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Transcendencia</a:t>
            </a:r>
            <a:endParaRPr sz="9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07" name="Google Shape;107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87550" y="3691075"/>
            <a:ext cx="1188301" cy="19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5366113" y="3621170"/>
            <a:ext cx="1752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Trabajo en </a:t>
            </a:r>
            <a:r>
              <a:rPr lang="es" sz="9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equipo</a:t>
            </a:r>
            <a:endParaRPr sz="9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09" name="Google Shape;109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57425" y="3691075"/>
            <a:ext cx="1088701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20891" y="2521573"/>
            <a:ext cx="1053425" cy="32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26663" y="2651425"/>
            <a:ext cx="1053425" cy="19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4109041" y="2588137"/>
            <a:ext cx="1752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Somos </a:t>
            </a:r>
            <a:r>
              <a:rPr lang="es" sz="9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sinceros</a:t>
            </a:r>
            <a:endParaRPr sz="9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1603252" y="2453198"/>
            <a:ext cx="108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Damos más</a:t>
            </a:r>
            <a:r>
              <a:rPr lang="es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de lo esperado</a:t>
            </a:r>
            <a:endParaRPr sz="9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13931" y="2522500"/>
            <a:ext cx="1481477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6614800" y="2452896"/>
            <a:ext cx="151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Orientación</a:t>
            </a:r>
            <a:r>
              <a:rPr lang="es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 objetivos y resultados</a:t>
            </a:r>
            <a:endParaRPr sz="9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7866001" y="3620310"/>
            <a:ext cx="1188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Somos </a:t>
            </a:r>
            <a:r>
              <a:rPr lang="es" sz="9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facilitadores</a:t>
            </a:r>
            <a:r>
              <a:rPr lang="es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de soluciones</a:t>
            </a:r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" y="0"/>
            <a:ext cx="9144003" cy="519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4564" y="2311400"/>
            <a:ext cx="1346202" cy="34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268433" y="2191621"/>
            <a:ext cx="46161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75025" lIns="75025" spcFirstLastPara="1" rIns="75025" wrap="square" tIns="75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882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Nuestros </a:t>
            </a:r>
            <a:r>
              <a:rPr lang="es" sz="2882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valores</a:t>
            </a:r>
            <a:endParaRPr sz="2882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24" name="Google Shape;12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08475" y="545600"/>
            <a:ext cx="2265411" cy="1295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59164" y="545600"/>
            <a:ext cx="2265411" cy="1295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08475" y="1926489"/>
            <a:ext cx="2265411" cy="1295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59164" y="1926501"/>
            <a:ext cx="2265411" cy="1295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08475" y="3307400"/>
            <a:ext cx="2265411" cy="1295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59164" y="3307400"/>
            <a:ext cx="2265411" cy="1295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70097" y="3405257"/>
            <a:ext cx="434949" cy="434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69449" y="642237"/>
            <a:ext cx="434949" cy="434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25661" y="642245"/>
            <a:ext cx="434949" cy="434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325661" y="3403545"/>
            <a:ext cx="434949" cy="434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669450" y="2032513"/>
            <a:ext cx="434949" cy="434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325661" y="2027724"/>
            <a:ext cx="434949" cy="434949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4232148" y="1151974"/>
            <a:ext cx="1752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Empatía real</a:t>
            </a:r>
            <a:endParaRPr sz="11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6564250" y="1151963"/>
            <a:ext cx="2183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Damos más de lo esperado</a:t>
            </a:r>
            <a:endParaRPr sz="11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4220940" y="2538672"/>
            <a:ext cx="1752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Somos sinceros</a:t>
            </a:r>
            <a:endParaRPr sz="11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6576370" y="2539139"/>
            <a:ext cx="175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Enseñamos mientras hacemos</a:t>
            </a:r>
            <a:endParaRPr sz="11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4221875" y="3918663"/>
            <a:ext cx="2136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Simplificamos lo complejo</a:t>
            </a:r>
            <a:endParaRPr sz="11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6570419" y="3918663"/>
            <a:ext cx="2136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Trascendencia</a:t>
            </a:r>
            <a:endParaRPr sz="11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42" name="Google Shape;142;p16"/>
          <p:cNvCxnSpPr/>
          <p:nvPr/>
        </p:nvCxnSpPr>
        <p:spPr>
          <a:xfrm flipH="1">
            <a:off x="-1408225" y="2815701"/>
            <a:ext cx="4839000" cy="24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" y="0"/>
            <a:ext cx="9144003" cy="519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875" y="468975"/>
            <a:ext cx="1822751" cy="4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449633" y="346146"/>
            <a:ext cx="46161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75025" lIns="75025" spcFirstLastPara="1" rIns="75025" wrap="square" tIns="75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882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Propósito</a:t>
            </a:r>
            <a:endParaRPr sz="2882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366816" y="2912350"/>
            <a:ext cx="65679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800">
                <a:solidFill>
                  <a:srgbClr val="9FB1C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Inspirar el bienestar en las formas de trabajo de las organizaciones.</a:t>
            </a:r>
            <a:endParaRPr sz="3800">
              <a:solidFill>
                <a:srgbClr val="9FB1C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51" name="Google Shape;151;p17"/>
          <p:cNvCxnSpPr/>
          <p:nvPr/>
        </p:nvCxnSpPr>
        <p:spPr>
          <a:xfrm flipH="1">
            <a:off x="-2505375" y="1059557"/>
            <a:ext cx="4839000" cy="24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" y="0"/>
            <a:ext cx="9144003" cy="519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672" y="2317275"/>
            <a:ext cx="1741676" cy="34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437554" y="2188588"/>
            <a:ext cx="19086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75025" lIns="75025" spcFirstLastPara="1" rIns="75025" wrap="square" tIns="75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882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Acciones</a:t>
            </a:r>
            <a:endParaRPr sz="2882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59" name="Google Shape;159;p18"/>
          <p:cNvCxnSpPr/>
          <p:nvPr/>
        </p:nvCxnSpPr>
        <p:spPr>
          <a:xfrm rot="10800000">
            <a:off x="-1408475" y="2817950"/>
            <a:ext cx="3677400" cy="36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oval"/>
            <a:tailEnd len="med" w="med" type="oval"/>
          </a:ln>
        </p:spPr>
      </p:cxnSp>
      <p:pic>
        <p:nvPicPr>
          <p:cNvPr id="160" name="Google Shape;16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37800" y="664600"/>
            <a:ext cx="4769725" cy="572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37800" y="1323746"/>
            <a:ext cx="4769725" cy="572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37800" y="1982893"/>
            <a:ext cx="4769725" cy="572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37800" y="2642039"/>
            <a:ext cx="4769725" cy="572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37800" y="3301185"/>
            <a:ext cx="4769725" cy="572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37800" y="3960332"/>
            <a:ext cx="4769725" cy="572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80148" y="776036"/>
            <a:ext cx="349575" cy="34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80148" y="1435198"/>
            <a:ext cx="349575" cy="34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80148" y="2114861"/>
            <a:ext cx="349575" cy="34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80148" y="2753473"/>
            <a:ext cx="349575" cy="34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80148" y="3412623"/>
            <a:ext cx="349575" cy="34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80148" y="4071761"/>
            <a:ext cx="349575" cy="34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4687175" y="789263"/>
            <a:ext cx="3885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Elegimos consultores con experiencia en pymes</a:t>
            </a:r>
            <a:endParaRPr sz="9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4693242" y="1387749"/>
            <a:ext cx="414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Entendemos el camino recorrido de cada persona y eso nos permite accionar de forma más personalizada.</a:t>
            </a:r>
            <a:endParaRPr sz="9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4693249" y="2034525"/>
            <a:ext cx="364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Resolvemos los problemas que se nos presentan a lo largo de los proyectos.</a:t>
            </a:r>
            <a:endParaRPr sz="9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4693250" y="2704250"/>
            <a:ext cx="405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Somos generosos con lo que sabemos y no nos guardamos nuestra opinión profesional.</a:t>
            </a:r>
            <a:endParaRPr sz="9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4693250" y="3349700"/>
            <a:ext cx="426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Somos proactivos, no somos reactivos sino que accionamos de forma autónoma.</a:t>
            </a:r>
            <a:endParaRPr sz="9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4693257" y="4085000"/>
            <a:ext cx="4261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Somos perseverantes, incansables.</a:t>
            </a:r>
            <a:endParaRPr sz="9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" y="-26947"/>
            <a:ext cx="9144003" cy="519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672" y="2317275"/>
            <a:ext cx="1741676" cy="34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437554" y="2188588"/>
            <a:ext cx="19086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75025" lIns="75025" spcFirstLastPara="1" rIns="75025" wrap="square" tIns="75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882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Acciones</a:t>
            </a:r>
            <a:endParaRPr sz="2882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85" name="Google Shape;185;p19"/>
          <p:cNvCxnSpPr/>
          <p:nvPr/>
        </p:nvCxnSpPr>
        <p:spPr>
          <a:xfrm rot="10800000">
            <a:off x="-1408475" y="2817950"/>
            <a:ext cx="3677400" cy="36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oval"/>
            <a:tailEnd len="med" w="med" type="oval"/>
          </a:ln>
        </p:spPr>
      </p:cxnSp>
      <p:pic>
        <p:nvPicPr>
          <p:cNvPr id="186" name="Google Shape;18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37800" y="342215"/>
            <a:ext cx="4769725" cy="572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37800" y="1001362"/>
            <a:ext cx="4769725" cy="572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37800" y="1660508"/>
            <a:ext cx="4769725" cy="572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37800" y="2319654"/>
            <a:ext cx="4769725" cy="572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37800" y="2978801"/>
            <a:ext cx="4769725" cy="572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37800" y="3637947"/>
            <a:ext cx="4769725" cy="572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80148" y="453651"/>
            <a:ext cx="349575" cy="34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80148" y="1112813"/>
            <a:ext cx="349575" cy="34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80148" y="1792476"/>
            <a:ext cx="349575" cy="34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80148" y="2431088"/>
            <a:ext cx="349575" cy="34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80148" y="3090238"/>
            <a:ext cx="349575" cy="34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80148" y="3749376"/>
            <a:ext cx="349575" cy="34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 txBox="1"/>
          <p:nvPr/>
        </p:nvSpPr>
        <p:spPr>
          <a:xfrm>
            <a:off x="4687175" y="466878"/>
            <a:ext cx="3885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Predicamos con el ejemplo.</a:t>
            </a:r>
            <a:endParaRPr sz="9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4703759" y="1126015"/>
            <a:ext cx="414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Hacemos que el cliente haga y ejecute.</a:t>
            </a:r>
            <a:endParaRPr sz="9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4698426" y="1779824"/>
            <a:ext cx="364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Comunicamos de forma clara y precisa.</a:t>
            </a:r>
            <a:endParaRPr sz="9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1" name="Google Shape;201;p19"/>
          <p:cNvSpPr txBox="1"/>
          <p:nvPr/>
        </p:nvSpPr>
        <p:spPr>
          <a:xfrm>
            <a:off x="4693250" y="2441865"/>
            <a:ext cx="4055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Nos convertirnos en el socio estratégico para sus proyectos.</a:t>
            </a:r>
            <a:endParaRPr sz="9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4693250" y="3103465"/>
            <a:ext cx="4261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Comunicamos los goles y el avance del proyecto</a:t>
            </a:r>
            <a:endParaRPr sz="9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3" name="Google Shape;203;p19"/>
          <p:cNvSpPr txBox="1"/>
          <p:nvPr/>
        </p:nvSpPr>
        <p:spPr>
          <a:xfrm>
            <a:off x="4693257" y="3762615"/>
            <a:ext cx="4261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Damos feedback, interno y externo.</a:t>
            </a:r>
            <a:endParaRPr sz="9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04" name="Google Shape;20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4763" y="4297097"/>
            <a:ext cx="4769725" cy="572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57111" y="4408526"/>
            <a:ext cx="349575" cy="3495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9"/>
          <p:cNvSpPr txBox="1"/>
          <p:nvPr/>
        </p:nvSpPr>
        <p:spPr>
          <a:xfrm>
            <a:off x="4670220" y="4421765"/>
            <a:ext cx="4261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Contagiamos una manera de pensar y enfrentar situaciones.</a:t>
            </a:r>
            <a:endParaRPr sz="9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" y="0"/>
            <a:ext cx="9144003" cy="519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875" y="490675"/>
            <a:ext cx="1155999" cy="3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449633" y="365388"/>
            <a:ext cx="46161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75025" lIns="75025" spcFirstLastPara="1" rIns="75025" wrap="square" tIns="75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882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BHAG</a:t>
            </a:r>
            <a:endParaRPr sz="2882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376163" y="3005750"/>
            <a:ext cx="7757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solidFill>
                  <a:srgbClr val="9FB1C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Impactar a 2000 organizaciones, transformando la manera en que operan, deciden y crecen.</a:t>
            </a:r>
            <a:endParaRPr sz="3600">
              <a:solidFill>
                <a:srgbClr val="9FB1C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15" name="Google Shape;215;p20"/>
          <p:cNvCxnSpPr/>
          <p:nvPr/>
        </p:nvCxnSpPr>
        <p:spPr>
          <a:xfrm flipH="1">
            <a:off x="-2512625" y="952500"/>
            <a:ext cx="4222800" cy="105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-26925"/>
            <a:ext cx="9144003" cy="519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875" y="472025"/>
            <a:ext cx="1897277" cy="35402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432772" y="348559"/>
            <a:ext cx="4616100" cy="1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75025" lIns="75025" spcFirstLastPara="1" rIns="75025" wrap="square" tIns="75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882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Promesas </a:t>
            </a:r>
            <a:endParaRPr sz="2882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882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 marca</a:t>
            </a:r>
            <a:endParaRPr sz="2882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23" name="Google Shape;223;p21"/>
          <p:cNvCxnSpPr/>
          <p:nvPr/>
        </p:nvCxnSpPr>
        <p:spPr>
          <a:xfrm flipH="1">
            <a:off x="-2505375" y="1384757"/>
            <a:ext cx="4839000" cy="24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oval"/>
            <a:tailEnd len="med" w="med" type="oval"/>
          </a:ln>
        </p:spPr>
      </p:cxnSp>
      <p:pic>
        <p:nvPicPr>
          <p:cNvPr id="224" name="Google Shape;22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7425" y="2255475"/>
            <a:ext cx="8127749" cy="2512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75750" y="2552544"/>
            <a:ext cx="824275" cy="82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59161" y="2552549"/>
            <a:ext cx="824275" cy="824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889137" y="2552549"/>
            <a:ext cx="824275" cy="824296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1"/>
          <p:cNvSpPr txBox="1"/>
          <p:nvPr/>
        </p:nvSpPr>
        <p:spPr>
          <a:xfrm>
            <a:off x="848828" y="3909566"/>
            <a:ext cx="196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Convertimos problemas en proyectos concretos</a:t>
            </a:r>
            <a:endParaRPr sz="11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3665138" y="3909575"/>
            <a:ext cx="1812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Somos catalizadores del crecimiento</a:t>
            </a:r>
            <a:endParaRPr sz="11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6326675" y="3909575"/>
            <a:ext cx="1967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Transferimos habilidades para que el cambio perdure</a:t>
            </a:r>
            <a:endParaRPr sz="11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2"/>
          <p:cNvPicPr preferRelativeResize="0"/>
          <p:nvPr/>
        </p:nvPicPr>
        <p:blipFill>
          <a:blip r:embed="rId3">
            <a:alphaModFix amt="52000"/>
          </a:blip>
          <a:stretch>
            <a:fillRect/>
          </a:stretch>
        </p:blipFill>
        <p:spPr>
          <a:xfrm>
            <a:off x="2124050" y="-138611"/>
            <a:ext cx="7019950" cy="5282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300" y="354575"/>
            <a:ext cx="3168300" cy="43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372427" y="229822"/>
            <a:ext cx="5082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¿Qué hacemos?</a:t>
            </a:r>
            <a:endParaRPr sz="3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5967273" y="2635177"/>
            <a:ext cx="47226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02</a:t>
            </a:r>
            <a:endParaRPr sz="17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" y="0"/>
            <a:ext cx="9144003" cy="519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875" y="490675"/>
            <a:ext cx="1861228" cy="3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3"/>
          <p:cNvSpPr txBox="1"/>
          <p:nvPr/>
        </p:nvSpPr>
        <p:spPr>
          <a:xfrm>
            <a:off x="449633" y="365388"/>
            <a:ext cx="46161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75025" lIns="75025" spcFirstLastPara="1" rIns="75025" wrap="square" tIns="75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882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Verticales </a:t>
            </a:r>
            <a:r>
              <a:rPr lang="es" sz="2882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 PCH</a:t>
            </a:r>
            <a:endParaRPr sz="2882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46" name="Google Shape;246;p23"/>
          <p:cNvCxnSpPr/>
          <p:nvPr/>
        </p:nvCxnSpPr>
        <p:spPr>
          <a:xfrm flipH="1">
            <a:off x="-2512475" y="952500"/>
            <a:ext cx="6340800" cy="105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oval"/>
            <a:tailEnd len="med" w="med" type="oval"/>
          </a:ln>
        </p:spPr>
      </p:cxnSp>
      <p:grpSp>
        <p:nvGrpSpPr>
          <p:cNvPr id="247" name="Google Shape;247;p23"/>
          <p:cNvGrpSpPr/>
          <p:nvPr/>
        </p:nvGrpSpPr>
        <p:grpSpPr>
          <a:xfrm>
            <a:off x="-947388" y="2631579"/>
            <a:ext cx="11038776" cy="175500"/>
            <a:chOff x="-947388" y="2848604"/>
            <a:chExt cx="11038776" cy="175500"/>
          </a:xfrm>
        </p:grpSpPr>
        <p:pic>
          <p:nvPicPr>
            <p:cNvPr id="248" name="Google Shape;248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-947388" y="2874374"/>
              <a:ext cx="11038776" cy="123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" name="Google Shape;249;p23"/>
            <p:cNvSpPr/>
            <p:nvPr/>
          </p:nvSpPr>
          <p:spPr>
            <a:xfrm>
              <a:off x="920793" y="2848604"/>
              <a:ext cx="175500" cy="175500"/>
            </a:xfrm>
            <a:prstGeom prst="ellipse">
              <a:avLst/>
            </a:prstGeom>
            <a:solidFill>
              <a:srgbClr val="CEDFF4"/>
            </a:solidFill>
            <a:ln>
              <a:noFill/>
            </a:ln>
          </p:spPr>
          <p:txBody>
            <a:bodyPr anchorCtr="0" anchor="ctr" bIns="88100" lIns="88100" spcFirstLastPara="1" rIns="88100" wrap="square" tIns="881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49"/>
            </a:p>
          </p:txBody>
        </p:sp>
        <p:sp>
          <p:nvSpPr>
            <p:cNvPr id="250" name="Google Shape;250;p23"/>
            <p:cNvSpPr/>
            <p:nvPr/>
          </p:nvSpPr>
          <p:spPr>
            <a:xfrm>
              <a:off x="4448608" y="2848604"/>
              <a:ext cx="175500" cy="175500"/>
            </a:xfrm>
            <a:prstGeom prst="ellipse">
              <a:avLst/>
            </a:prstGeom>
            <a:solidFill>
              <a:srgbClr val="CEDFF4"/>
            </a:solidFill>
            <a:ln>
              <a:noFill/>
            </a:ln>
          </p:spPr>
          <p:txBody>
            <a:bodyPr anchorCtr="0" anchor="ctr" bIns="88100" lIns="88100" spcFirstLastPara="1" rIns="88100" wrap="square" tIns="881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49"/>
            </a:p>
          </p:txBody>
        </p:sp>
        <p:sp>
          <p:nvSpPr>
            <p:cNvPr id="251" name="Google Shape;251;p23"/>
            <p:cNvSpPr/>
            <p:nvPr/>
          </p:nvSpPr>
          <p:spPr>
            <a:xfrm>
              <a:off x="7976421" y="2848604"/>
              <a:ext cx="175500" cy="175500"/>
            </a:xfrm>
            <a:prstGeom prst="ellipse">
              <a:avLst/>
            </a:prstGeom>
            <a:solidFill>
              <a:srgbClr val="CEDFF4"/>
            </a:solidFill>
            <a:ln>
              <a:noFill/>
            </a:ln>
          </p:spPr>
          <p:txBody>
            <a:bodyPr anchorCtr="0" anchor="ctr" bIns="88100" lIns="88100" spcFirstLastPara="1" rIns="88100" wrap="square" tIns="881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49"/>
            </a:p>
          </p:txBody>
        </p:sp>
      </p:grpSp>
      <p:pic>
        <p:nvPicPr>
          <p:cNvPr id="252" name="Google Shape;252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1118" y="2960598"/>
            <a:ext cx="675150" cy="67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98400" y="2960625"/>
            <a:ext cx="675150" cy="67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725679" y="2960613"/>
            <a:ext cx="675150" cy="67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67963" y="3751914"/>
            <a:ext cx="1481477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3"/>
          <p:cNvSpPr txBox="1"/>
          <p:nvPr/>
        </p:nvSpPr>
        <p:spPr>
          <a:xfrm>
            <a:off x="7085803" y="3735283"/>
            <a:ext cx="1967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E-COMMERCE</a:t>
            </a:r>
            <a:endParaRPr sz="11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57" name="Google Shape;257;p23"/>
          <p:cNvSpPr txBox="1"/>
          <p:nvPr/>
        </p:nvSpPr>
        <p:spPr>
          <a:xfrm>
            <a:off x="3" y="3734870"/>
            <a:ext cx="1967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GPS</a:t>
            </a:r>
            <a:endParaRPr sz="11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58" name="Google Shape;258;p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795225" y="3751914"/>
            <a:ext cx="1481477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3"/>
          <p:cNvSpPr txBox="1"/>
          <p:nvPr/>
        </p:nvSpPr>
        <p:spPr>
          <a:xfrm>
            <a:off x="3542903" y="3734317"/>
            <a:ext cx="1967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PROCESOS</a:t>
            </a:r>
            <a:endParaRPr sz="11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60" name="Google Shape;260;p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328600" y="3751914"/>
            <a:ext cx="1481477" cy="32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4"/>
          <p:cNvPicPr preferRelativeResize="0"/>
          <p:nvPr/>
        </p:nvPicPr>
        <p:blipFill>
          <a:blip r:embed="rId3">
            <a:alphaModFix amt="52000"/>
          </a:blip>
          <a:stretch>
            <a:fillRect/>
          </a:stretch>
        </p:blipFill>
        <p:spPr>
          <a:xfrm>
            <a:off x="2124050" y="-138611"/>
            <a:ext cx="7019950" cy="5282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300" y="335650"/>
            <a:ext cx="4501800" cy="45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4"/>
          <p:cNvSpPr txBox="1"/>
          <p:nvPr/>
        </p:nvSpPr>
        <p:spPr>
          <a:xfrm>
            <a:off x="372427" y="229822"/>
            <a:ext cx="5082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¿Qué hicimos en 2025?</a:t>
            </a:r>
            <a:endParaRPr sz="3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68" name="Google Shape;268;p24"/>
          <p:cNvSpPr txBox="1"/>
          <p:nvPr/>
        </p:nvSpPr>
        <p:spPr>
          <a:xfrm>
            <a:off x="5967273" y="2635177"/>
            <a:ext cx="47226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03</a:t>
            </a:r>
            <a:endParaRPr sz="17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" y="0"/>
            <a:ext cx="9144003" cy="519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1025" y="493425"/>
            <a:ext cx="1124101" cy="3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5"/>
          <p:cNvSpPr txBox="1"/>
          <p:nvPr/>
        </p:nvSpPr>
        <p:spPr>
          <a:xfrm>
            <a:off x="449633" y="365388"/>
            <a:ext cx="46161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75025" lIns="75025" spcFirstLastPara="1" rIns="75025" wrap="square" tIns="75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882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Nuestro año en</a:t>
            </a:r>
            <a:r>
              <a:rPr lang="es" sz="2882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cifras:</a:t>
            </a:r>
            <a:endParaRPr sz="2882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76" name="Google Shape;276;p25"/>
          <p:cNvCxnSpPr/>
          <p:nvPr/>
        </p:nvCxnSpPr>
        <p:spPr>
          <a:xfrm>
            <a:off x="3110750" y="2247889"/>
            <a:ext cx="9900" cy="2723400"/>
          </a:xfrm>
          <a:prstGeom prst="straightConnector1">
            <a:avLst/>
          </a:prstGeom>
          <a:noFill/>
          <a:ln cap="flat" cmpd="sng" w="9525">
            <a:solidFill>
              <a:srgbClr val="9FB1C5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277" name="Google Shape;277;p25"/>
          <p:cNvCxnSpPr/>
          <p:nvPr/>
        </p:nvCxnSpPr>
        <p:spPr>
          <a:xfrm>
            <a:off x="6156000" y="2241174"/>
            <a:ext cx="16500" cy="2724300"/>
          </a:xfrm>
          <a:prstGeom prst="straightConnector1">
            <a:avLst/>
          </a:prstGeom>
          <a:noFill/>
          <a:ln cap="flat" cmpd="sng" w="9525">
            <a:solidFill>
              <a:srgbClr val="9FB1C5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278" name="Google Shape;278;p25"/>
          <p:cNvSpPr txBox="1"/>
          <p:nvPr/>
        </p:nvSpPr>
        <p:spPr>
          <a:xfrm>
            <a:off x="305045" y="3661875"/>
            <a:ext cx="28155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00">
                <a:solidFill>
                  <a:srgbClr val="9FB1C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40%</a:t>
            </a:r>
            <a:endParaRPr sz="8300">
              <a:solidFill>
                <a:srgbClr val="9FB1C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79" name="Google Shape;279;p25"/>
          <p:cNvSpPr txBox="1"/>
          <p:nvPr/>
        </p:nvSpPr>
        <p:spPr>
          <a:xfrm>
            <a:off x="3907969" y="3656888"/>
            <a:ext cx="28155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00">
                <a:solidFill>
                  <a:srgbClr val="9FB1C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56</a:t>
            </a:r>
            <a:endParaRPr sz="8300">
              <a:solidFill>
                <a:srgbClr val="9FB1C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80" name="Google Shape;280;p25"/>
          <p:cNvSpPr txBox="1"/>
          <p:nvPr/>
        </p:nvSpPr>
        <p:spPr>
          <a:xfrm>
            <a:off x="6919200" y="3656888"/>
            <a:ext cx="28155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00">
                <a:solidFill>
                  <a:srgbClr val="9FB1C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29</a:t>
            </a:r>
            <a:endParaRPr sz="8300">
              <a:solidFill>
                <a:srgbClr val="9FB1C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81" name="Google Shape;281;p25"/>
          <p:cNvCxnSpPr/>
          <p:nvPr/>
        </p:nvCxnSpPr>
        <p:spPr>
          <a:xfrm flipH="1">
            <a:off x="-2512575" y="952500"/>
            <a:ext cx="7101900" cy="105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oval"/>
            <a:tailEnd len="med" w="med" type="oval"/>
          </a:ln>
        </p:spPr>
      </p:cxnSp>
      <p:pic>
        <p:nvPicPr>
          <p:cNvPr id="282" name="Google Shape;282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23681" y="2250002"/>
            <a:ext cx="2229299" cy="3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3656" y="2250002"/>
            <a:ext cx="2229299" cy="3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47356" y="2250010"/>
            <a:ext cx="2229299" cy="35712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5"/>
          <p:cNvSpPr txBox="1"/>
          <p:nvPr/>
        </p:nvSpPr>
        <p:spPr>
          <a:xfrm>
            <a:off x="544740" y="2243923"/>
            <a:ext cx="196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Crecimiento Ventas:</a:t>
            </a:r>
            <a:endParaRPr sz="12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>
            <a:off x="3654766" y="2243923"/>
            <a:ext cx="196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Nuevos Proyectos:</a:t>
            </a:r>
            <a:endParaRPr sz="12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87" name="Google Shape;287;p25"/>
          <p:cNvSpPr txBox="1"/>
          <p:nvPr/>
        </p:nvSpPr>
        <p:spPr>
          <a:xfrm>
            <a:off x="6678441" y="2243923"/>
            <a:ext cx="196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Nuevos Clientes:</a:t>
            </a:r>
            <a:endParaRPr sz="12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" y="-26938"/>
            <a:ext cx="9144003" cy="519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2094" y="461150"/>
            <a:ext cx="2149228" cy="43295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6"/>
          <p:cNvSpPr txBox="1"/>
          <p:nvPr/>
        </p:nvSpPr>
        <p:spPr>
          <a:xfrm>
            <a:off x="235466" y="350300"/>
            <a:ext cx="6229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75025" lIns="75025" spcFirstLastPara="1" rIns="75025" wrap="square" tIns="75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882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¿Qué nos habíamos </a:t>
            </a:r>
            <a:r>
              <a:rPr lang="es" sz="2882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propuesto?</a:t>
            </a:r>
            <a:endParaRPr sz="2882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95" name="Google Shape;29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7762" y="1353225"/>
            <a:ext cx="4068198" cy="475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7762" y="1901026"/>
            <a:ext cx="4068198" cy="475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7762" y="2448827"/>
            <a:ext cx="4068198" cy="475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7762" y="2996629"/>
            <a:ext cx="4068198" cy="475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7762" y="3544430"/>
            <a:ext cx="4068198" cy="475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7762" y="4092231"/>
            <a:ext cx="4068198" cy="475744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6"/>
          <p:cNvSpPr txBox="1"/>
          <p:nvPr/>
        </p:nvSpPr>
        <p:spPr>
          <a:xfrm>
            <a:off x="1563562" y="1429553"/>
            <a:ext cx="3885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Ventas: USD 1.000.000</a:t>
            </a:r>
            <a:endParaRPr sz="11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02" name="Google Shape;302;p26"/>
          <p:cNvSpPr txBox="1"/>
          <p:nvPr/>
        </p:nvSpPr>
        <p:spPr>
          <a:xfrm>
            <a:off x="1563562" y="1961903"/>
            <a:ext cx="3885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Clientes: 60</a:t>
            </a:r>
            <a:endParaRPr sz="11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03" name="Google Shape;303;p26"/>
          <p:cNvSpPr txBox="1"/>
          <p:nvPr/>
        </p:nvSpPr>
        <p:spPr>
          <a:xfrm>
            <a:off x="1560304" y="2509703"/>
            <a:ext cx="3885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Proyectos activos al 31/12: 75</a:t>
            </a:r>
            <a:endParaRPr sz="11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04" name="Google Shape;304;p26"/>
          <p:cNvSpPr txBox="1"/>
          <p:nvPr/>
        </p:nvSpPr>
        <p:spPr>
          <a:xfrm>
            <a:off x="1553449" y="3043793"/>
            <a:ext cx="3885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Estructura: 30 colaboradores</a:t>
            </a:r>
            <a:endParaRPr sz="11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05" name="Google Shape;305;p26"/>
          <p:cNvSpPr txBox="1"/>
          <p:nvPr/>
        </p:nvSpPr>
        <p:spPr>
          <a:xfrm>
            <a:off x="1556721" y="3605293"/>
            <a:ext cx="3885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Rotación: 10%</a:t>
            </a:r>
            <a:endParaRPr sz="11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06" name="Google Shape;306;p26"/>
          <p:cNvSpPr txBox="1"/>
          <p:nvPr/>
        </p:nvSpPr>
        <p:spPr>
          <a:xfrm>
            <a:off x="1544654" y="4153088"/>
            <a:ext cx="3885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NPS: mayor a 85</a:t>
            </a:r>
            <a:endParaRPr sz="11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307" name="Google Shape;307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29962" y="1400950"/>
            <a:ext cx="854293" cy="411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29949" y="2492406"/>
            <a:ext cx="854293" cy="411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29962" y="1941014"/>
            <a:ext cx="854285" cy="411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29962" y="3028898"/>
            <a:ext cx="854285" cy="411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29962" y="4119036"/>
            <a:ext cx="854285" cy="411214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6"/>
          <p:cNvSpPr txBox="1"/>
          <p:nvPr/>
        </p:nvSpPr>
        <p:spPr>
          <a:xfrm>
            <a:off x="5784995" y="1423121"/>
            <a:ext cx="68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75%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13" name="Google Shape;313;p26"/>
          <p:cNvSpPr txBox="1"/>
          <p:nvPr/>
        </p:nvSpPr>
        <p:spPr>
          <a:xfrm>
            <a:off x="5785671" y="2516046"/>
            <a:ext cx="68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75%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14" name="Google Shape;314;p26"/>
          <p:cNvSpPr txBox="1"/>
          <p:nvPr/>
        </p:nvSpPr>
        <p:spPr>
          <a:xfrm>
            <a:off x="5784996" y="1966842"/>
            <a:ext cx="68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60</a:t>
            </a:r>
            <a:r>
              <a:rPr lang="es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%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15" name="Google Shape;315;p26"/>
          <p:cNvSpPr txBox="1"/>
          <p:nvPr/>
        </p:nvSpPr>
        <p:spPr>
          <a:xfrm>
            <a:off x="5784987" y="3053312"/>
            <a:ext cx="68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60%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16" name="Google Shape;316;p26"/>
          <p:cNvSpPr txBox="1"/>
          <p:nvPr/>
        </p:nvSpPr>
        <p:spPr>
          <a:xfrm>
            <a:off x="5784971" y="4151837"/>
            <a:ext cx="68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60%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317" name="Google Shape;317;p2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29962" y="3573963"/>
            <a:ext cx="1034707" cy="4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6"/>
          <p:cNvSpPr txBox="1"/>
          <p:nvPr/>
        </p:nvSpPr>
        <p:spPr>
          <a:xfrm>
            <a:off x="5784971" y="3605635"/>
            <a:ext cx="68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100</a:t>
            </a:r>
            <a:r>
              <a:rPr lang="es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%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319" name="Google Shape;319;p2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87012" y="3672386"/>
            <a:ext cx="302724" cy="220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" y="0"/>
            <a:ext cx="9144003" cy="519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2275" y="453025"/>
            <a:ext cx="3763548" cy="429775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7"/>
          <p:cNvSpPr txBox="1"/>
          <p:nvPr/>
        </p:nvSpPr>
        <p:spPr>
          <a:xfrm>
            <a:off x="449622" y="365400"/>
            <a:ext cx="6229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75025" lIns="75025" spcFirstLastPara="1" rIns="75025" wrap="square" tIns="75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882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NPS </a:t>
            </a:r>
            <a:r>
              <a:rPr lang="es" sz="2882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satisfacción</a:t>
            </a:r>
            <a:r>
              <a:rPr lang="es" sz="2882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clientes</a:t>
            </a:r>
            <a:endParaRPr sz="2882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327" name="Google Shape;327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69188" y="1800003"/>
            <a:ext cx="4605624" cy="7915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0175" y="3073775"/>
            <a:ext cx="8073149" cy="112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9" name="Google Shape;329;p27"/>
          <p:cNvCxnSpPr/>
          <p:nvPr/>
        </p:nvCxnSpPr>
        <p:spPr>
          <a:xfrm flipH="1" rot="10800000">
            <a:off x="4571950" y="2591675"/>
            <a:ext cx="4800" cy="4821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330" name="Google Shape;330;p27"/>
          <p:cNvSpPr txBox="1"/>
          <p:nvPr/>
        </p:nvSpPr>
        <p:spPr>
          <a:xfrm>
            <a:off x="698506" y="3225839"/>
            <a:ext cx="7648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NPS: </a:t>
            </a:r>
            <a:r>
              <a:rPr lang="es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56</a:t>
            </a:r>
            <a:endParaRPr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1" name="Google Shape;331;p27"/>
          <p:cNvSpPr txBox="1"/>
          <p:nvPr/>
        </p:nvSpPr>
        <p:spPr>
          <a:xfrm>
            <a:off x="710692" y="3531733"/>
            <a:ext cx="6861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Conclusiones:</a:t>
            </a:r>
            <a:r>
              <a:rPr lang="es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Similar a 2024. Hubo pocas respuestas, la mayoría son positivas pero el cálculo es muy estricto. Hay que trabajar en mejorar la visibilidad de nuestro aporte. 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" y="-26947"/>
            <a:ext cx="9144003" cy="519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676" y="2317275"/>
            <a:ext cx="2077051" cy="349575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8"/>
          <p:cNvSpPr txBox="1"/>
          <p:nvPr/>
        </p:nvSpPr>
        <p:spPr>
          <a:xfrm>
            <a:off x="437549" y="2188600"/>
            <a:ext cx="22677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75025" lIns="75025" spcFirstLastPara="1" rIns="75025" wrap="square" tIns="75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882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Goles 2025</a:t>
            </a:r>
            <a:endParaRPr sz="2882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339" name="Google Shape;339;p28"/>
          <p:cNvCxnSpPr/>
          <p:nvPr/>
        </p:nvCxnSpPr>
        <p:spPr>
          <a:xfrm rot="10800000">
            <a:off x="-1408550" y="2818100"/>
            <a:ext cx="4002000" cy="111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340" name="Google Shape;340;p28"/>
          <p:cNvCxnSpPr/>
          <p:nvPr/>
        </p:nvCxnSpPr>
        <p:spPr>
          <a:xfrm>
            <a:off x="5401350" y="-192816"/>
            <a:ext cx="0" cy="54963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341" name="Google Shape;341;p28"/>
          <p:cNvSpPr/>
          <p:nvPr/>
        </p:nvSpPr>
        <p:spPr>
          <a:xfrm>
            <a:off x="5341350" y="856759"/>
            <a:ext cx="120000" cy="1200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8"/>
          <p:cNvSpPr/>
          <p:nvPr/>
        </p:nvSpPr>
        <p:spPr>
          <a:xfrm>
            <a:off x="5341350" y="1558659"/>
            <a:ext cx="120000" cy="1200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8"/>
          <p:cNvSpPr/>
          <p:nvPr/>
        </p:nvSpPr>
        <p:spPr>
          <a:xfrm>
            <a:off x="5341350" y="2260559"/>
            <a:ext cx="120000" cy="1200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8"/>
          <p:cNvSpPr/>
          <p:nvPr/>
        </p:nvSpPr>
        <p:spPr>
          <a:xfrm>
            <a:off x="5341350" y="2962459"/>
            <a:ext cx="120000" cy="1200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8"/>
          <p:cNvSpPr/>
          <p:nvPr/>
        </p:nvSpPr>
        <p:spPr>
          <a:xfrm>
            <a:off x="5341350" y="3664359"/>
            <a:ext cx="120000" cy="1200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8"/>
          <p:cNvSpPr/>
          <p:nvPr/>
        </p:nvSpPr>
        <p:spPr>
          <a:xfrm>
            <a:off x="5341350" y="4366259"/>
            <a:ext cx="120000" cy="1200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7" name="Google Shape;347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45225" y="665787"/>
            <a:ext cx="3126799" cy="514125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8"/>
          <p:cNvSpPr txBox="1"/>
          <p:nvPr/>
        </p:nvSpPr>
        <p:spPr>
          <a:xfrm>
            <a:off x="5747199" y="653600"/>
            <a:ext cx="27345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88100" lIns="88100" spcFirstLastPara="1" rIns="88100" wrap="square" tIns="881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734"/>
              </a:spcBef>
              <a:spcAft>
                <a:spcPts val="0"/>
              </a:spcAft>
              <a:buNone/>
            </a:pPr>
            <a:r>
              <a:rPr lang="es" sz="106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Grupo Refri, Tacca, EV, Galarraga: Presupuesto 2026</a:t>
            </a:r>
            <a:endParaRPr sz="1067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49" name="Google Shape;349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45225" y="1361137"/>
            <a:ext cx="3126799" cy="514125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8"/>
          <p:cNvSpPr txBox="1"/>
          <p:nvPr/>
        </p:nvSpPr>
        <p:spPr>
          <a:xfrm>
            <a:off x="5747200" y="1348950"/>
            <a:ext cx="24057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88100" lIns="88100" spcFirstLastPara="1" rIns="88100" wrap="square" tIns="881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734"/>
              </a:spcBef>
              <a:spcAft>
                <a:spcPts val="0"/>
              </a:spcAft>
              <a:buNone/>
            </a:pPr>
            <a:r>
              <a:rPr lang="es" sz="106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Leuk, Hudson y WNS: Implementación de Scorecard</a:t>
            </a:r>
            <a:endParaRPr sz="1067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51" name="Google Shape;351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45225" y="2069587"/>
            <a:ext cx="3126799" cy="5141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8"/>
          <p:cNvSpPr txBox="1"/>
          <p:nvPr/>
        </p:nvSpPr>
        <p:spPr>
          <a:xfrm>
            <a:off x="5747200" y="2057400"/>
            <a:ext cx="25644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88100" lIns="88100" spcFirstLastPara="1" rIns="88100" wrap="square" tIns="881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734"/>
              </a:spcBef>
              <a:spcAft>
                <a:spcPts val="0"/>
              </a:spcAft>
              <a:buNone/>
            </a:pPr>
            <a:r>
              <a:rPr lang="es" sz="106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D&amp;T, Clamaco: </a:t>
            </a:r>
            <a:endParaRPr sz="1067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3" name="Google Shape;353;p28"/>
          <p:cNvSpPr txBox="1"/>
          <p:nvPr/>
        </p:nvSpPr>
        <p:spPr>
          <a:xfrm>
            <a:off x="5784220" y="2262377"/>
            <a:ext cx="30000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734"/>
              </a:spcBef>
              <a:spcAft>
                <a:spcPts val="0"/>
              </a:spcAft>
              <a:buNone/>
            </a:pPr>
            <a:r>
              <a:rPr lang="es" sz="1067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Mejora en el proceso de compras</a:t>
            </a:r>
            <a:endParaRPr sz="1067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54" name="Google Shape;354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45225" y="2777112"/>
            <a:ext cx="3126799" cy="5141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8"/>
          <p:cNvSpPr txBox="1"/>
          <p:nvPr/>
        </p:nvSpPr>
        <p:spPr>
          <a:xfrm>
            <a:off x="5747200" y="2764925"/>
            <a:ext cx="21627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88100" lIns="88100" spcFirstLastPara="1" rIns="88100" wrap="square" tIns="881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734"/>
              </a:spcBef>
              <a:spcAft>
                <a:spcPts val="0"/>
              </a:spcAft>
              <a:buNone/>
            </a:pPr>
            <a:r>
              <a:rPr lang="es" sz="106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TyT, Grupo Refri, WNS: Armado de EERR</a:t>
            </a:r>
            <a:endParaRPr sz="1067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56" name="Google Shape;356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45225" y="3470162"/>
            <a:ext cx="3126799" cy="514125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8"/>
          <p:cNvSpPr txBox="1"/>
          <p:nvPr/>
        </p:nvSpPr>
        <p:spPr>
          <a:xfrm>
            <a:off x="5747200" y="3553200"/>
            <a:ext cx="29430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88100" lIns="88100" spcFirstLastPara="1" rIns="88100" wrap="square" tIns="881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734"/>
              </a:spcBef>
              <a:spcAft>
                <a:spcPts val="0"/>
              </a:spcAft>
              <a:buNone/>
            </a:pPr>
            <a:r>
              <a:rPr lang="es" sz="106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Estampados: Reuniones de planificación</a:t>
            </a:r>
            <a:endParaRPr sz="1067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58" name="Google Shape;358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45225" y="4150112"/>
            <a:ext cx="3126799" cy="514125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8"/>
          <p:cNvSpPr txBox="1"/>
          <p:nvPr/>
        </p:nvSpPr>
        <p:spPr>
          <a:xfrm>
            <a:off x="5747200" y="4233150"/>
            <a:ext cx="21627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88100" lIns="88100" spcFirstLastPara="1" rIns="88100" wrap="square" tIns="881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734"/>
              </a:spcBef>
              <a:spcAft>
                <a:spcPts val="0"/>
              </a:spcAft>
              <a:buNone/>
            </a:pPr>
            <a:r>
              <a:rPr lang="es" sz="106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Nuevos Líderes (Maru y Majo)</a:t>
            </a:r>
            <a:endParaRPr sz="1067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" y="-26926"/>
            <a:ext cx="9144003" cy="519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675" y="2317275"/>
            <a:ext cx="2934451" cy="349575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9"/>
          <p:cNvSpPr txBox="1"/>
          <p:nvPr/>
        </p:nvSpPr>
        <p:spPr>
          <a:xfrm>
            <a:off x="437550" y="2188600"/>
            <a:ext cx="33591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75025" lIns="75025" spcFirstLastPara="1" rIns="75025" wrap="square" tIns="75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882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Beneficios PCH</a:t>
            </a:r>
            <a:endParaRPr sz="2882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367" name="Google Shape;367;p29"/>
          <p:cNvCxnSpPr/>
          <p:nvPr/>
        </p:nvCxnSpPr>
        <p:spPr>
          <a:xfrm rot="10800000">
            <a:off x="-1408600" y="2818250"/>
            <a:ext cx="4822500" cy="204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368" name="Google Shape;368;p29"/>
          <p:cNvSpPr txBox="1"/>
          <p:nvPr/>
        </p:nvSpPr>
        <p:spPr>
          <a:xfrm>
            <a:off x="4708124" y="233408"/>
            <a:ext cx="27345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88100" lIns="88100" spcFirstLastPara="1" rIns="88100" wrap="square" tIns="881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734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01</a:t>
            </a:r>
            <a:endParaRPr sz="20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369" name="Google Shape;369;p29"/>
          <p:cNvCxnSpPr/>
          <p:nvPr/>
        </p:nvCxnSpPr>
        <p:spPr>
          <a:xfrm>
            <a:off x="4770000" y="796658"/>
            <a:ext cx="3703800" cy="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0" name="Google Shape;370;p29"/>
          <p:cNvSpPr txBox="1"/>
          <p:nvPr/>
        </p:nvSpPr>
        <p:spPr>
          <a:xfrm>
            <a:off x="5254649" y="305108"/>
            <a:ext cx="27345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88100" lIns="88100" spcFirstLastPara="1" rIns="88100" wrap="square" tIns="881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734"/>
              </a:spcBef>
              <a:spcAft>
                <a:spcPts val="0"/>
              </a:spcAft>
              <a:buNone/>
            </a:pPr>
            <a:r>
              <a:rPr lang="es" sz="106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Seguro de Accidentes</a:t>
            </a:r>
            <a:endParaRPr sz="1067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1" name="Google Shape;371;p29"/>
          <p:cNvSpPr txBox="1"/>
          <p:nvPr/>
        </p:nvSpPr>
        <p:spPr>
          <a:xfrm>
            <a:off x="4707099" y="928251"/>
            <a:ext cx="27345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88100" lIns="88100" spcFirstLastPara="1" rIns="88100" wrap="square" tIns="881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734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02</a:t>
            </a:r>
            <a:endParaRPr sz="20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372" name="Google Shape;372;p29"/>
          <p:cNvCxnSpPr/>
          <p:nvPr/>
        </p:nvCxnSpPr>
        <p:spPr>
          <a:xfrm>
            <a:off x="4768974" y="1491501"/>
            <a:ext cx="3703800" cy="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3" name="Google Shape;373;p29"/>
          <p:cNvSpPr txBox="1"/>
          <p:nvPr/>
        </p:nvSpPr>
        <p:spPr>
          <a:xfrm>
            <a:off x="5253624" y="999951"/>
            <a:ext cx="27345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88100" lIns="88100" spcFirstLastPara="1" rIns="88100" wrap="square" tIns="881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734"/>
              </a:spcBef>
              <a:spcAft>
                <a:spcPts val="0"/>
              </a:spcAft>
              <a:buNone/>
            </a:pPr>
            <a:r>
              <a:rPr lang="es" sz="106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Flexibilidad Horaria</a:t>
            </a:r>
            <a:endParaRPr sz="1067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4" name="Google Shape;374;p29"/>
          <p:cNvSpPr txBox="1"/>
          <p:nvPr/>
        </p:nvSpPr>
        <p:spPr>
          <a:xfrm>
            <a:off x="4708689" y="1631642"/>
            <a:ext cx="27345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88100" lIns="88100" spcFirstLastPara="1" rIns="88100" wrap="square" tIns="881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734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03</a:t>
            </a:r>
            <a:endParaRPr sz="20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375" name="Google Shape;375;p29"/>
          <p:cNvCxnSpPr/>
          <p:nvPr/>
        </p:nvCxnSpPr>
        <p:spPr>
          <a:xfrm>
            <a:off x="4770564" y="2194892"/>
            <a:ext cx="3703800" cy="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6" name="Google Shape;376;p29"/>
          <p:cNvSpPr txBox="1"/>
          <p:nvPr/>
        </p:nvSpPr>
        <p:spPr>
          <a:xfrm>
            <a:off x="5255214" y="1703342"/>
            <a:ext cx="27345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88100" lIns="88100" spcFirstLastPara="1" rIns="88100" wrap="square" tIns="881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734"/>
              </a:spcBef>
              <a:spcAft>
                <a:spcPts val="0"/>
              </a:spcAft>
              <a:buNone/>
            </a:pPr>
            <a:r>
              <a:rPr lang="es" sz="106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Trabajo Remoto</a:t>
            </a:r>
            <a:endParaRPr sz="1067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7" name="Google Shape;377;p29"/>
          <p:cNvSpPr txBox="1"/>
          <p:nvPr/>
        </p:nvSpPr>
        <p:spPr>
          <a:xfrm>
            <a:off x="4707089" y="2328206"/>
            <a:ext cx="27345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88100" lIns="88100" spcFirstLastPara="1" rIns="88100" wrap="square" tIns="881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734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04</a:t>
            </a:r>
            <a:endParaRPr sz="20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378" name="Google Shape;378;p29"/>
          <p:cNvCxnSpPr/>
          <p:nvPr/>
        </p:nvCxnSpPr>
        <p:spPr>
          <a:xfrm>
            <a:off x="4768964" y="2891456"/>
            <a:ext cx="3703800" cy="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9" name="Google Shape;379;p29"/>
          <p:cNvSpPr txBox="1"/>
          <p:nvPr/>
        </p:nvSpPr>
        <p:spPr>
          <a:xfrm>
            <a:off x="5253628" y="2399909"/>
            <a:ext cx="34059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88100" lIns="88100" spcFirstLastPara="1" rIns="88100" wrap="square" tIns="881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734"/>
              </a:spcBef>
              <a:spcAft>
                <a:spcPts val="0"/>
              </a:spcAft>
              <a:buNone/>
            </a:pPr>
            <a:r>
              <a:rPr lang="es" sz="106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Licencia Maternidad / Paternidad Extendida</a:t>
            </a:r>
            <a:endParaRPr sz="1067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0" name="Google Shape;380;p29"/>
          <p:cNvSpPr txBox="1"/>
          <p:nvPr/>
        </p:nvSpPr>
        <p:spPr>
          <a:xfrm>
            <a:off x="4703369" y="3053571"/>
            <a:ext cx="27345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88100" lIns="88100" spcFirstLastPara="1" rIns="88100" wrap="square" tIns="881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734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05</a:t>
            </a:r>
            <a:endParaRPr sz="20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381" name="Google Shape;381;p29"/>
          <p:cNvCxnSpPr/>
          <p:nvPr/>
        </p:nvCxnSpPr>
        <p:spPr>
          <a:xfrm>
            <a:off x="4765244" y="3616821"/>
            <a:ext cx="3703800" cy="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2" name="Google Shape;382;p29"/>
          <p:cNvSpPr txBox="1"/>
          <p:nvPr/>
        </p:nvSpPr>
        <p:spPr>
          <a:xfrm>
            <a:off x="5249894" y="3125271"/>
            <a:ext cx="27345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88100" lIns="88100" spcFirstLastPara="1" rIns="88100" wrap="square" tIns="881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734"/>
              </a:spcBef>
              <a:spcAft>
                <a:spcPts val="0"/>
              </a:spcAft>
              <a:buNone/>
            </a:pPr>
            <a:r>
              <a:rPr lang="es" sz="106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Bonda</a:t>
            </a:r>
            <a:endParaRPr sz="1067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3" name="Google Shape;383;p29"/>
          <p:cNvSpPr txBox="1"/>
          <p:nvPr/>
        </p:nvSpPr>
        <p:spPr>
          <a:xfrm>
            <a:off x="4704959" y="3756962"/>
            <a:ext cx="27345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88100" lIns="88100" spcFirstLastPara="1" rIns="88100" wrap="square" tIns="881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734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06</a:t>
            </a:r>
            <a:endParaRPr sz="20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384" name="Google Shape;384;p29"/>
          <p:cNvCxnSpPr/>
          <p:nvPr/>
        </p:nvCxnSpPr>
        <p:spPr>
          <a:xfrm>
            <a:off x="4766835" y="4320212"/>
            <a:ext cx="3703800" cy="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5" name="Google Shape;385;p29"/>
          <p:cNvSpPr txBox="1"/>
          <p:nvPr/>
        </p:nvSpPr>
        <p:spPr>
          <a:xfrm>
            <a:off x="5251484" y="3828662"/>
            <a:ext cx="27345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88100" lIns="88100" spcFirstLastPara="1" rIns="88100" wrap="square" tIns="881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734"/>
              </a:spcBef>
              <a:spcAft>
                <a:spcPts val="0"/>
              </a:spcAft>
              <a:buNone/>
            </a:pPr>
            <a:r>
              <a:rPr lang="es" sz="106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Vacaciones Fraccionadas </a:t>
            </a:r>
            <a:endParaRPr sz="1067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6" name="Google Shape;386;p29"/>
          <p:cNvSpPr txBox="1"/>
          <p:nvPr/>
        </p:nvSpPr>
        <p:spPr>
          <a:xfrm>
            <a:off x="4703359" y="4453526"/>
            <a:ext cx="27345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88100" lIns="88100" spcFirstLastPara="1" rIns="88100" wrap="square" tIns="881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734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07</a:t>
            </a:r>
            <a:endParaRPr sz="20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87" name="Google Shape;387;p29"/>
          <p:cNvSpPr txBox="1"/>
          <p:nvPr/>
        </p:nvSpPr>
        <p:spPr>
          <a:xfrm>
            <a:off x="5249898" y="4525230"/>
            <a:ext cx="34059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88100" lIns="88100" spcFirstLastPara="1" rIns="88100" wrap="square" tIns="881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734"/>
              </a:spcBef>
              <a:spcAft>
                <a:spcPts val="0"/>
              </a:spcAft>
              <a:buNone/>
            </a:pPr>
            <a:r>
              <a:rPr lang="es" sz="106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Política Comercial</a:t>
            </a:r>
            <a:endParaRPr sz="1067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" y="0"/>
            <a:ext cx="9144003" cy="519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875" y="490675"/>
            <a:ext cx="1201802" cy="3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0"/>
          <p:cNvSpPr txBox="1"/>
          <p:nvPr/>
        </p:nvSpPr>
        <p:spPr>
          <a:xfrm>
            <a:off x="449630" y="365400"/>
            <a:ext cx="1390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75025" lIns="75025" spcFirstLastPara="1" rIns="75025" wrap="square" tIns="75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882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GPTW</a:t>
            </a:r>
            <a:endParaRPr sz="2882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395" name="Google Shape;395;p30"/>
          <p:cNvCxnSpPr/>
          <p:nvPr/>
        </p:nvCxnSpPr>
        <p:spPr>
          <a:xfrm rot="10800000">
            <a:off x="510975" y="1672775"/>
            <a:ext cx="8142600" cy="9300"/>
          </a:xfrm>
          <a:prstGeom prst="straightConnector1">
            <a:avLst/>
          </a:prstGeom>
          <a:noFill/>
          <a:ln cap="flat" cmpd="sng" w="9525">
            <a:solidFill>
              <a:srgbClr val="506378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396" name="Google Shape;396;p30"/>
          <p:cNvCxnSpPr/>
          <p:nvPr/>
        </p:nvCxnSpPr>
        <p:spPr>
          <a:xfrm rot="10800000">
            <a:off x="510975" y="3861900"/>
            <a:ext cx="8142600" cy="9300"/>
          </a:xfrm>
          <a:prstGeom prst="straightConnector1">
            <a:avLst/>
          </a:prstGeom>
          <a:noFill/>
          <a:ln cap="flat" cmpd="sng" w="9525">
            <a:solidFill>
              <a:srgbClr val="506378"/>
            </a:solidFill>
            <a:prstDash val="solid"/>
            <a:round/>
            <a:headEnd len="med" w="med" type="oval"/>
            <a:tailEnd len="med" w="med" type="oval"/>
          </a:ln>
        </p:spPr>
      </p:cxnSp>
      <p:pic>
        <p:nvPicPr>
          <p:cNvPr id="397" name="Google Shape;397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2301" y="1859511"/>
            <a:ext cx="1819601" cy="1824952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0"/>
          <p:cNvSpPr txBox="1"/>
          <p:nvPr/>
        </p:nvSpPr>
        <p:spPr>
          <a:xfrm>
            <a:off x="1050098" y="2457003"/>
            <a:ext cx="12018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88100" lIns="88100" spcFirstLastPara="1" rIns="88100" wrap="square" tIns="8810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734"/>
              </a:spcBef>
              <a:spcAft>
                <a:spcPts val="0"/>
              </a:spcAft>
              <a:buNone/>
            </a:pPr>
            <a:r>
              <a:rPr lang="es" sz="3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93%</a:t>
            </a:r>
            <a:endParaRPr sz="3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99" name="Google Shape;399;p30"/>
          <p:cNvSpPr txBox="1"/>
          <p:nvPr/>
        </p:nvSpPr>
        <p:spPr>
          <a:xfrm>
            <a:off x="2590925" y="2380050"/>
            <a:ext cx="2556600" cy="8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88100" lIns="88100" spcFirstLastPara="1" rIns="88100" wrap="square" tIns="881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734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 los empleados dice que este es un excelente lugar para trabajar.</a:t>
            </a:r>
            <a:endParaRPr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400" name="Google Shape;400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60524" y="2237804"/>
            <a:ext cx="1049752" cy="110418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1" name="Google Shape;401;p30"/>
          <p:cNvCxnSpPr/>
          <p:nvPr/>
        </p:nvCxnSpPr>
        <p:spPr>
          <a:xfrm flipH="1">
            <a:off x="7244209" y="1968765"/>
            <a:ext cx="3000" cy="1642200"/>
          </a:xfrm>
          <a:prstGeom prst="straightConnector1">
            <a:avLst/>
          </a:prstGeom>
          <a:noFill/>
          <a:ln cap="flat" cmpd="sng" w="8325">
            <a:solidFill>
              <a:srgbClr val="50637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2" name="Google Shape;402;p30"/>
          <p:cNvCxnSpPr/>
          <p:nvPr/>
        </p:nvCxnSpPr>
        <p:spPr>
          <a:xfrm flipH="1">
            <a:off x="-2512525" y="957225"/>
            <a:ext cx="4285500" cy="57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oval"/>
            <a:tailEnd len="med" w="med" type="oval"/>
          </a:ln>
        </p:spPr>
      </p:cxnSp>
      <p:pic>
        <p:nvPicPr>
          <p:cNvPr id="403" name="Google Shape;403;p30" title="PCH_Consultora_AR_Spanish_2025_Certification_Badge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39025" y="1788853"/>
            <a:ext cx="1390199" cy="19662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08;p31"/>
          <p:cNvPicPr preferRelativeResize="0"/>
          <p:nvPr/>
        </p:nvPicPr>
        <p:blipFill>
          <a:blip r:embed="rId3">
            <a:alphaModFix amt="52000"/>
          </a:blip>
          <a:stretch>
            <a:fillRect/>
          </a:stretch>
        </p:blipFill>
        <p:spPr>
          <a:xfrm>
            <a:off x="2124050" y="-138611"/>
            <a:ext cx="7019950" cy="5282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300" y="335650"/>
            <a:ext cx="4211725" cy="45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31"/>
          <p:cNvSpPr txBox="1"/>
          <p:nvPr/>
        </p:nvSpPr>
        <p:spPr>
          <a:xfrm>
            <a:off x="372427" y="229822"/>
            <a:ext cx="5082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¿Qué vamos a hacer?</a:t>
            </a:r>
            <a:endParaRPr sz="3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11" name="Google Shape;411;p31"/>
          <p:cNvSpPr txBox="1"/>
          <p:nvPr/>
        </p:nvSpPr>
        <p:spPr>
          <a:xfrm>
            <a:off x="5825412" y="2635177"/>
            <a:ext cx="47226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04</a:t>
            </a:r>
            <a:endParaRPr sz="17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" y="0"/>
            <a:ext cx="9144003" cy="519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500" y="2303463"/>
            <a:ext cx="2801951" cy="434925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2"/>
          <p:cNvSpPr txBox="1"/>
          <p:nvPr/>
        </p:nvSpPr>
        <p:spPr>
          <a:xfrm>
            <a:off x="268433" y="2191621"/>
            <a:ext cx="46161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75025" lIns="75025" spcFirstLastPara="1" rIns="75025" wrap="square" tIns="75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882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Objetivos 2026</a:t>
            </a:r>
            <a:endParaRPr sz="2882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419" name="Google Shape;419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08475" y="545600"/>
            <a:ext cx="2265411" cy="1295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59164" y="545600"/>
            <a:ext cx="2265411" cy="1295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08475" y="1926489"/>
            <a:ext cx="2265411" cy="1295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59164" y="1926501"/>
            <a:ext cx="2265411" cy="1295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08475" y="3307400"/>
            <a:ext cx="2265411" cy="1295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59164" y="3307400"/>
            <a:ext cx="2265411" cy="1295076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32"/>
          <p:cNvSpPr txBox="1"/>
          <p:nvPr/>
        </p:nvSpPr>
        <p:spPr>
          <a:xfrm>
            <a:off x="4232148" y="1151974"/>
            <a:ext cx="1752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Ventas: USD 1.100.000</a:t>
            </a:r>
            <a:endParaRPr sz="11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26" name="Google Shape;426;p32"/>
          <p:cNvSpPr txBox="1"/>
          <p:nvPr/>
        </p:nvSpPr>
        <p:spPr>
          <a:xfrm>
            <a:off x="6564250" y="1151963"/>
            <a:ext cx="2183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Clientes: 70</a:t>
            </a:r>
            <a:endParaRPr sz="11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27" name="Google Shape;427;p32"/>
          <p:cNvSpPr txBox="1"/>
          <p:nvPr/>
        </p:nvSpPr>
        <p:spPr>
          <a:xfrm>
            <a:off x="4220950" y="2538675"/>
            <a:ext cx="218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Proyectos activos al 31/12: 100</a:t>
            </a:r>
            <a:endParaRPr sz="11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28" name="Google Shape;428;p32"/>
          <p:cNvSpPr txBox="1"/>
          <p:nvPr/>
        </p:nvSpPr>
        <p:spPr>
          <a:xfrm>
            <a:off x="6576375" y="2539150"/>
            <a:ext cx="2265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Estructura: 22 colaboradores</a:t>
            </a:r>
            <a:endParaRPr sz="11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29" name="Google Shape;429;p32"/>
          <p:cNvSpPr txBox="1"/>
          <p:nvPr/>
        </p:nvSpPr>
        <p:spPr>
          <a:xfrm>
            <a:off x="4221875" y="3918663"/>
            <a:ext cx="2136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Rotación: 10%</a:t>
            </a:r>
            <a:endParaRPr sz="11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30" name="Google Shape;430;p32"/>
          <p:cNvSpPr txBox="1"/>
          <p:nvPr/>
        </p:nvSpPr>
        <p:spPr>
          <a:xfrm>
            <a:off x="6570419" y="3918663"/>
            <a:ext cx="2136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NPS: mayor a 80</a:t>
            </a:r>
            <a:endParaRPr sz="11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431" name="Google Shape;431;p32"/>
          <p:cNvCxnSpPr/>
          <p:nvPr/>
        </p:nvCxnSpPr>
        <p:spPr>
          <a:xfrm flipH="1">
            <a:off x="-1408175" y="2876331"/>
            <a:ext cx="4548600" cy="30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oval"/>
            <a:tailEnd len="med" w="med" type="oval"/>
          </a:ln>
        </p:spPr>
      </p:cxnSp>
      <p:grpSp>
        <p:nvGrpSpPr>
          <p:cNvPr id="432" name="Google Shape;432;p32"/>
          <p:cNvGrpSpPr/>
          <p:nvPr/>
        </p:nvGrpSpPr>
        <p:grpSpPr>
          <a:xfrm>
            <a:off x="4325650" y="673547"/>
            <a:ext cx="354000" cy="354000"/>
            <a:chOff x="4325650" y="673547"/>
            <a:chExt cx="354000" cy="354000"/>
          </a:xfrm>
        </p:grpSpPr>
        <p:sp>
          <p:nvSpPr>
            <p:cNvPr id="433" name="Google Shape;433;p32"/>
            <p:cNvSpPr/>
            <p:nvPr/>
          </p:nvSpPr>
          <p:spPr>
            <a:xfrm>
              <a:off x="4325650" y="673547"/>
              <a:ext cx="354000" cy="354000"/>
            </a:xfrm>
            <a:prstGeom prst="ellipse">
              <a:avLst/>
            </a:prstGeom>
            <a:solidFill>
              <a:srgbClr val="011E3C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11E3C"/>
                </a:solidFill>
              </a:endParaRPr>
            </a:p>
          </p:txBody>
        </p:sp>
        <p:pic>
          <p:nvPicPr>
            <p:cNvPr id="434" name="Google Shape;434;p3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382647" y="772300"/>
              <a:ext cx="240001" cy="174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5" name="Google Shape;435;p32"/>
          <p:cNvSpPr/>
          <p:nvPr/>
        </p:nvSpPr>
        <p:spPr>
          <a:xfrm>
            <a:off x="6666301" y="673547"/>
            <a:ext cx="354000" cy="354000"/>
          </a:xfrm>
          <a:prstGeom prst="ellipse">
            <a:avLst/>
          </a:prstGeom>
          <a:solidFill>
            <a:srgbClr val="011E3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11E3C"/>
              </a:solidFill>
            </a:endParaRPr>
          </a:p>
        </p:txBody>
      </p:sp>
      <p:pic>
        <p:nvPicPr>
          <p:cNvPr id="436" name="Google Shape;436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23297" y="768575"/>
            <a:ext cx="240001" cy="1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32"/>
          <p:cNvSpPr/>
          <p:nvPr/>
        </p:nvSpPr>
        <p:spPr>
          <a:xfrm>
            <a:off x="4325650" y="2043291"/>
            <a:ext cx="354000" cy="354000"/>
          </a:xfrm>
          <a:prstGeom prst="ellipse">
            <a:avLst/>
          </a:prstGeom>
          <a:solidFill>
            <a:srgbClr val="011E3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11E3C"/>
              </a:solidFill>
            </a:endParaRPr>
          </a:p>
        </p:txBody>
      </p:sp>
      <p:pic>
        <p:nvPicPr>
          <p:cNvPr id="438" name="Google Shape;438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82647" y="2142043"/>
            <a:ext cx="240001" cy="1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2"/>
          <p:cNvSpPr/>
          <p:nvPr/>
        </p:nvSpPr>
        <p:spPr>
          <a:xfrm>
            <a:off x="6666300" y="2039397"/>
            <a:ext cx="354000" cy="354000"/>
          </a:xfrm>
          <a:prstGeom prst="ellipse">
            <a:avLst/>
          </a:prstGeom>
          <a:solidFill>
            <a:srgbClr val="011E3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11E3C"/>
              </a:solidFill>
            </a:endParaRPr>
          </a:p>
        </p:txBody>
      </p:sp>
      <p:pic>
        <p:nvPicPr>
          <p:cNvPr id="440" name="Google Shape;440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23297" y="2138150"/>
            <a:ext cx="240001" cy="1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32"/>
          <p:cNvSpPr/>
          <p:nvPr/>
        </p:nvSpPr>
        <p:spPr>
          <a:xfrm>
            <a:off x="4325650" y="3413060"/>
            <a:ext cx="354000" cy="354000"/>
          </a:xfrm>
          <a:prstGeom prst="ellipse">
            <a:avLst/>
          </a:prstGeom>
          <a:solidFill>
            <a:srgbClr val="011E3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11E3C"/>
              </a:solidFill>
            </a:endParaRPr>
          </a:p>
        </p:txBody>
      </p:sp>
      <p:pic>
        <p:nvPicPr>
          <p:cNvPr id="442" name="Google Shape;442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82647" y="3511812"/>
            <a:ext cx="240001" cy="1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32"/>
          <p:cNvSpPr/>
          <p:nvPr/>
        </p:nvSpPr>
        <p:spPr>
          <a:xfrm>
            <a:off x="6666300" y="3408968"/>
            <a:ext cx="354000" cy="354000"/>
          </a:xfrm>
          <a:prstGeom prst="ellipse">
            <a:avLst/>
          </a:prstGeom>
          <a:solidFill>
            <a:srgbClr val="011E3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11E3C"/>
              </a:solidFill>
            </a:endParaRPr>
          </a:p>
        </p:txBody>
      </p:sp>
      <p:pic>
        <p:nvPicPr>
          <p:cNvPr id="444" name="Google Shape;444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23297" y="3507720"/>
            <a:ext cx="240001" cy="17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" y="-9958"/>
            <a:ext cx="9144003" cy="519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500" y="2295775"/>
            <a:ext cx="2900101" cy="38780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33"/>
          <p:cNvSpPr txBox="1"/>
          <p:nvPr/>
        </p:nvSpPr>
        <p:spPr>
          <a:xfrm>
            <a:off x="268427" y="2191625"/>
            <a:ext cx="33564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75025" lIns="75025" spcFirstLastPara="1" rIns="75025" wrap="square" tIns="75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882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Iniciativas 2026</a:t>
            </a:r>
            <a:endParaRPr sz="2882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452" name="Google Shape;452;p33"/>
          <p:cNvCxnSpPr/>
          <p:nvPr/>
        </p:nvCxnSpPr>
        <p:spPr>
          <a:xfrm rot="10800000">
            <a:off x="-1408100" y="2818100"/>
            <a:ext cx="4661700" cy="111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453" name="Google Shape;453;p33"/>
          <p:cNvCxnSpPr/>
          <p:nvPr/>
        </p:nvCxnSpPr>
        <p:spPr>
          <a:xfrm rot="10800000">
            <a:off x="4021150" y="736013"/>
            <a:ext cx="2237400" cy="3300"/>
          </a:xfrm>
          <a:prstGeom prst="straightConnector1">
            <a:avLst/>
          </a:prstGeom>
          <a:noFill/>
          <a:ln cap="flat" cmpd="sng" w="9525">
            <a:solidFill>
              <a:srgbClr val="506378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454" name="Google Shape;454;p33"/>
          <p:cNvCxnSpPr/>
          <p:nvPr/>
        </p:nvCxnSpPr>
        <p:spPr>
          <a:xfrm rot="10800000">
            <a:off x="6455575" y="736013"/>
            <a:ext cx="2237400" cy="3300"/>
          </a:xfrm>
          <a:prstGeom prst="straightConnector1">
            <a:avLst/>
          </a:prstGeom>
          <a:noFill/>
          <a:ln cap="flat" cmpd="sng" w="9525">
            <a:solidFill>
              <a:srgbClr val="506378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455" name="Google Shape;455;p33"/>
          <p:cNvCxnSpPr/>
          <p:nvPr/>
        </p:nvCxnSpPr>
        <p:spPr>
          <a:xfrm rot="10800000">
            <a:off x="4021823" y="1544489"/>
            <a:ext cx="2237400" cy="3300"/>
          </a:xfrm>
          <a:prstGeom prst="straightConnector1">
            <a:avLst/>
          </a:prstGeom>
          <a:noFill/>
          <a:ln cap="flat" cmpd="sng" w="9525">
            <a:solidFill>
              <a:srgbClr val="506378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456" name="Google Shape;456;p33"/>
          <p:cNvCxnSpPr/>
          <p:nvPr/>
        </p:nvCxnSpPr>
        <p:spPr>
          <a:xfrm rot="10800000">
            <a:off x="6456248" y="1544489"/>
            <a:ext cx="2237400" cy="3300"/>
          </a:xfrm>
          <a:prstGeom prst="straightConnector1">
            <a:avLst/>
          </a:prstGeom>
          <a:noFill/>
          <a:ln cap="flat" cmpd="sng" w="9525">
            <a:solidFill>
              <a:srgbClr val="506378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457" name="Google Shape;457;p33"/>
          <p:cNvCxnSpPr/>
          <p:nvPr/>
        </p:nvCxnSpPr>
        <p:spPr>
          <a:xfrm rot="10800000">
            <a:off x="4028575" y="2352481"/>
            <a:ext cx="2237400" cy="3300"/>
          </a:xfrm>
          <a:prstGeom prst="straightConnector1">
            <a:avLst/>
          </a:prstGeom>
          <a:noFill/>
          <a:ln cap="flat" cmpd="sng" w="9525">
            <a:solidFill>
              <a:srgbClr val="506378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458" name="Google Shape;458;p33"/>
          <p:cNvCxnSpPr/>
          <p:nvPr/>
        </p:nvCxnSpPr>
        <p:spPr>
          <a:xfrm rot="10800000">
            <a:off x="6463000" y="2352481"/>
            <a:ext cx="2237400" cy="3300"/>
          </a:xfrm>
          <a:prstGeom prst="straightConnector1">
            <a:avLst/>
          </a:prstGeom>
          <a:noFill/>
          <a:ln cap="flat" cmpd="sng" w="9525">
            <a:solidFill>
              <a:srgbClr val="506378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459" name="Google Shape;459;p33"/>
          <p:cNvCxnSpPr/>
          <p:nvPr/>
        </p:nvCxnSpPr>
        <p:spPr>
          <a:xfrm rot="10800000">
            <a:off x="4029248" y="3160958"/>
            <a:ext cx="2237400" cy="3300"/>
          </a:xfrm>
          <a:prstGeom prst="straightConnector1">
            <a:avLst/>
          </a:prstGeom>
          <a:noFill/>
          <a:ln cap="flat" cmpd="sng" w="9525">
            <a:solidFill>
              <a:srgbClr val="506378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460" name="Google Shape;460;p33"/>
          <p:cNvCxnSpPr/>
          <p:nvPr/>
        </p:nvCxnSpPr>
        <p:spPr>
          <a:xfrm rot="10800000">
            <a:off x="6463673" y="3160958"/>
            <a:ext cx="2237400" cy="3300"/>
          </a:xfrm>
          <a:prstGeom prst="straightConnector1">
            <a:avLst/>
          </a:prstGeom>
          <a:noFill/>
          <a:ln cap="flat" cmpd="sng" w="9525">
            <a:solidFill>
              <a:srgbClr val="506378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461" name="Google Shape;461;p33"/>
          <p:cNvCxnSpPr/>
          <p:nvPr/>
        </p:nvCxnSpPr>
        <p:spPr>
          <a:xfrm rot="10800000">
            <a:off x="6455620" y="4012158"/>
            <a:ext cx="2237400" cy="3300"/>
          </a:xfrm>
          <a:prstGeom prst="straightConnector1">
            <a:avLst/>
          </a:prstGeom>
          <a:noFill/>
          <a:ln cap="flat" cmpd="sng" w="9525">
            <a:solidFill>
              <a:srgbClr val="506378"/>
            </a:solidFill>
            <a:prstDash val="solid"/>
            <a:round/>
            <a:headEnd len="med" w="med" type="oval"/>
            <a:tailEnd len="med" w="med" type="oval"/>
          </a:ln>
        </p:spPr>
      </p:cxnSp>
      <p:pic>
        <p:nvPicPr>
          <p:cNvPr id="462" name="Google Shape;462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29250" y="884850"/>
            <a:ext cx="2229299" cy="3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54956" y="889450"/>
            <a:ext cx="2229299" cy="3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25206" y="1697938"/>
            <a:ext cx="2229299" cy="3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54956" y="1697675"/>
            <a:ext cx="2229299" cy="3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25206" y="2511050"/>
            <a:ext cx="2229299" cy="3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54956" y="2506163"/>
            <a:ext cx="2229299" cy="3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29256" y="3324150"/>
            <a:ext cx="2229299" cy="3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54956" y="3324150"/>
            <a:ext cx="2229299" cy="3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54956" y="4168502"/>
            <a:ext cx="2229299" cy="357125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33"/>
          <p:cNvSpPr txBox="1"/>
          <p:nvPr/>
        </p:nvSpPr>
        <p:spPr>
          <a:xfrm>
            <a:off x="6419299" y="4176151"/>
            <a:ext cx="1943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Lanzamiento formal de EPI</a:t>
            </a:r>
            <a:endParaRPr sz="9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72" name="Google Shape;472;p33"/>
          <p:cNvSpPr txBox="1"/>
          <p:nvPr/>
        </p:nvSpPr>
        <p:spPr>
          <a:xfrm>
            <a:off x="4005628" y="3328176"/>
            <a:ext cx="2416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Nuevo sitio web y manual de marca</a:t>
            </a:r>
            <a:endParaRPr sz="9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73" name="Google Shape;473;p33"/>
          <p:cNvSpPr txBox="1"/>
          <p:nvPr/>
        </p:nvSpPr>
        <p:spPr>
          <a:xfrm>
            <a:off x="6422003" y="3273119"/>
            <a:ext cx="223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Sistema de inteligencia colectiva interna</a:t>
            </a:r>
            <a:endParaRPr sz="9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74" name="Google Shape;474;p33"/>
          <p:cNvSpPr txBox="1"/>
          <p:nvPr/>
        </p:nvSpPr>
        <p:spPr>
          <a:xfrm>
            <a:off x="4004959" y="2519688"/>
            <a:ext cx="3885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Lanzar un Newsletter para clientes</a:t>
            </a:r>
            <a:endParaRPr sz="9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75" name="Google Shape;475;p33"/>
          <p:cNvSpPr txBox="1"/>
          <p:nvPr/>
        </p:nvSpPr>
        <p:spPr>
          <a:xfrm>
            <a:off x="6421330" y="2519701"/>
            <a:ext cx="2237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Desarrollar nuevos líderes en PCH</a:t>
            </a:r>
            <a:endParaRPr sz="9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76" name="Google Shape;476;p33"/>
          <p:cNvSpPr txBox="1"/>
          <p:nvPr/>
        </p:nvSpPr>
        <p:spPr>
          <a:xfrm>
            <a:off x="3998203" y="1706336"/>
            <a:ext cx="2416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Dar 3 talleres para clientes gratuitos</a:t>
            </a:r>
            <a:endParaRPr sz="9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77" name="Google Shape;477;p33"/>
          <p:cNvSpPr txBox="1"/>
          <p:nvPr/>
        </p:nvSpPr>
        <p:spPr>
          <a:xfrm>
            <a:off x="6414578" y="1645639"/>
            <a:ext cx="223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Implementar un scorecard operativo para PCH</a:t>
            </a:r>
            <a:endParaRPr sz="9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78" name="Google Shape;478;p33"/>
          <p:cNvSpPr txBox="1"/>
          <p:nvPr/>
        </p:nvSpPr>
        <p:spPr>
          <a:xfrm>
            <a:off x="3997534" y="897849"/>
            <a:ext cx="3885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Desarrollar el área Comercial</a:t>
            </a:r>
            <a:endParaRPr sz="9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79" name="Google Shape;479;p33"/>
          <p:cNvSpPr txBox="1"/>
          <p:nvPr/>
        </p:nvSpPr>
        <p:spPr>
          <a:xfrm>
            <a:off x="6427912" y="837163"/>
            <a:ext cx="223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Tener un calendario de capacitaciones 2026 (12)</a:t>
            </a:r>
            <a:endParaRPr sz="9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480" name="Google Shape;480;p33"/>
          <p:cNvCxnSpPr/>
          <p:nvPr/>
        </p:nvCxnSpPr>
        <p:spPr>
          <a:xfrm rot="10800000">
            <a:off x="4029248" y="4012158"/>
            <a:ext cx="2237400" cy="3300"/>
          </a:xfrm>
          <a:prstGeom prst="straightConnector1">
            <a:avLst/>
          </a:prstGeom>
          <a:noFill/>
          <a:ln cap="flat" cmpd="sng" w="9525">
            <a:solidFill>
              <a:srgbClr val="506378"/>
            </a:solidFill>
            <a:prstDash val="solid"/>
            <a:round/>
            <a:headEnd len="med" w="med" type="oval"/>
            <a:tailEnd len="med" w="med" type="oval"/>
          </a:ln>
        </p:spPr>
      </p:cxnSp>
      <p:pic>
        <p:nvPicPr>
          <p:cNvPr id="481" name="Google Shape;481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33306" y="4168502"/>
            <a:ext cx="2229299" cy="357125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33"/>
          <p:cNvSpPr txBox="1"/>
          <p:nvPr/>
        </p:nvSpPr>
        <p:spPr>
          <a:xfrm>
            <a:off x="4005628" y="4179376"/>
            <a:ext cx="2416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Nuevos procesos internos</a:t>
            </a:r>
            <a:endParaRPr sz="9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34"/>
          <p:cNvPicPr preferRelativeResize="0"/>
          <p:nvPr/>
        </p:nvPicPr>
        <p:blipFill>
          <a:blip r:embed="rId3">
            <a:alphaModFix amt="52000"/>
          </a:blip>
          <a:stretch>
            <a:fillRect/>
          </a:stretch>
        </p:blipFill>
        <p:spPr>
          <a:xfrm>
            <a:off x="2124050" y="-138611"/>
            <a:ext cx="7019950" cy="5282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300" y="335650"/>
            <a:ext cx="2677975" cy="45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34"/>
          <p:cNvSpPr txBox="1"/>
          <p:nvPr/>
        </p:nvSpPr>
        <p:spPr>
          <a:xfrm>
            <a:off x="372426" y="229825"/>
            <a:ext cx="2990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Tema del año</a:t>
            </a:r>
            <a:endParaRPr sz="3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90" name="Google Shape;490;p34"/>
          <p:cNvSpPr txBox="1"/>
          <p:nvPr/>
        </p:nvSpPr>
        <p:spPr>
          <a:xfrm>
            <a:off x="5825412" y="2635177"/>
            <a:ext cx="47226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05</a:t>
            </a:r>
            <a:endParaRPr sz="17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Google Shape;49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" y="-9958"/>
            <a:ext cx="9144003" cy="519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221" y="1970000"/>
            <a:ext cx="2551552" cy="662175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35"/>
          <p:cNvSpPr txBox="1"/>
          <p:nvPr/>
        </p:nvSpPr>
        <p:spPr>
          <a:xfrm>
            <a:off x="268424" y="1770525"/>
            <a:ext cx="27369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8100" lIns="128100" spcFirstLastPara="1" rIns="128100" wrap="square" tIns="128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492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¡Crecer!</a:t>
            </a:r>
            <a:endParaRPr sz="4921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498" name="Google Shape;498;p35"/>
          <p:cNvCxnSpPr/>
          <p:nvPr/>
        </p:nvCxnSpPr>
        <p:spPr>
          <a:xfrm rot="10800000">
            <a:off x="-1419125" y="2903825"/>
            <a:ext cx="10478700" cy="78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99" name="Google Shape;499;p35"/>
          <p:cNvSpPr txBox="1"/>
          <p:nvPr/>
        </p:nvSpPr>
        <p:spPr>
          <a:xfrm>
            <a:off x="352225" y="3068250"/>
            <a:ext cx="7278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9FB1C5"/>
                </a:solidFill>
                <a:latin typeface="Montserrat"/>
                <a:ea typeface="Montserrat"/>
                <a:cs typeface="Montserrat"/>
                <a:sym typeface="Montserrat"/>
              </a:rPr>
              <a:t>Este año la prioridad es Crecer. Queremos dar un salto en la cantidad de proyectos y superar los 70 clientes. Esto plantea muchos desafíos, principalmente en lo comercial dado que requiere crecer el equipo y desde operaciones porque necesitamos más células de trabajo.</a:t>
            </a:r>
            <a:endParaRPr>
              <a:solidFill>
                <a:srgbClr val="9FB1C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00" name="Google Shape;500;p35"/>
          <p:cNvCxnSpPr/>
          <p:nvPr/>
        </p:nvCxnSpPr>
        <p:spPr>
          <a:xfrm rot="10800000">
            <a:off x="75449" y="4271575"/>
            <a:ext cx="10478700" cy="78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Google Shape;50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73275"/>
            <a:ext cx="9273825" cy="5234625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36"/>
          <p:cNvSpPr txBox="1"/>
          <p:nvPr/>
        </p:nvSpPr>
        <p:spPr>
          <a:xfrm>
            <a:off x="4724050" y="3600290"/>
            <a:ext cx="5404200" cy="12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63725" lIns="63725" spcFirstLastPara="1" rIns="63725" wrap="square" tIns="63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¡</a:t>
            </a:r>
            <a:r>
              <a:rPr lang="es" sz="75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Gracias!</a:t>
            </a:r>
            <a:endParaRPr sz="75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